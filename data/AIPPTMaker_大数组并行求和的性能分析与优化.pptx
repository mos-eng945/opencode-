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custom-properties+xml" PartName="/docProps/custom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10" Target="docProps/custom.xml" Type="http://schemas.openxmlformats.org/officeDocument/2006/relationships/custom-properties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Relationship Id="rId5" Target="ppt/slideLayouts/slideLayout2.xml" Type="http://schemas.openxmlformats.org/officeDocument/2006/relationships/slideLayout"/><Relationship Id="rId6" Target="ppt/slideLayouts/slideLayout3.xml" Type="http://schemas.openxmlformats.org/officeDocument/2006/relationships/slideLayout"/><Relationship Id="rId7" Target="ppt/slideLayouts/slideLayout4.xml" Type="http://schemas.openxmlformats.org/officeDocument/2006/relationships/slideLayout"/><Relationship Id="rId8" Target="ppt/slideLayouts/slideLayout5.xml" Type="http://schemas.openxmlformats.org/officeDocument/2006/relationships/slideLayout"/><Relationship Id="rId9" Target="ppt/slideLayouts/slideLayout6.xml" Type="http://schemas.openxmlformats.org/officeDocument/2006/relationships/slideLayout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114" d="100"/>
          <a:sy n="114" d="100"/>
        </p:scale>
        <p:origin x="912" y="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1.jpeg" Type="http://schemas.openxmlformats.org/officeDocument/2006/relationships/image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1.jpeg" Type="http://schemas.openxmlformats.org/officeDocument/2006/relationships/image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1.jpeg" Type="http://schemas.openxmlformats.org/officeDocument/2006/relationships/image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1.jpeg" Type="http://schemas.openxmlformats.org/officeDocument/2006/relationships/image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2F2F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rgbClr val="2F2F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0" y="0"/>
            <a:ext cx="12192000" cy="6858000"/>
            <a:chOff x="-336550" y="0"/>
            <a:chExt cx="12192000" cy="6858000"/>
          </a:xfrm>
        </p:grpSpPr>
        <p:grpSp>
          <p:nvGrpSpPr>
            <p:cNvPr name="Group 3" id="3"/>
            <p:cNvGrpSpPr/>
            <p:nvPr/>
          </p:nvGrpSpPr>
          <p:grpSpPr>
            <a:xfrm>
              <a:off x="-336550" y="0"/>
              <a:ext cx="12192000" cy="6858000"/>
              <a:chOff x="0" y="265112"/>
              <a:chExt cx="12192000" cy="6858000"/>
            </a:xfrm>
          </p:grpSpPr>
          <p:pic>
            <p:nvPicPr>
              <p:cNvPr name="image1.jpeg" id="4"/>
              <p:cNvPicPr>
                <a:picLocks noChangeAspect="true"/>
              </p:cNvPicPr>
              <p:nvPr/>
            </p:nvPicPr>
            <p:blipFill>
              <a:blip r:embed="rId2"/>
              <a:srcRect t="8320" b="8475" r="154"/>
              <a:stretch>
                <a:fillRect/>
              </a:stretch>
            </p:blipFill>
            <p:spPr>
              <a:xfrm>
                <a:off x="0" y="265112"/>
                <a:ext cx="12192000" cy="6858000"/>
              </a:xfrm>
              <a:prstGeom prst="rect">
                <a:avLst/>
              </a:prstGeom>
            </p:spPr>
          </p:pic>
          <p:sp>
            <p:nvSpPr>
              <p:cNvPr name="AutoShape 5" id="5"/>
              <p:cNvSpPr/>
              <p:nvPr/>
            </p:nvSpPr>
            <p:spPr>
              <a:xfrm>
                <a:off x="0" y="265112"/>
                <a:ext cx="12192000" cy="6858000"/>
              </a:xfrm>
              <a:prstGeom prst="rect">
                <a:avLst/>
              </a:prstGeom>
              <a:solidFill>
                <a:srgbClr val="000000">
                  <a:alpha val="50000"/>
                </a:srgbClr>
              </a:solidFill>
              <a:ln cap="flat" cmpd="sng">
                <a:prstDash val="solid"/>
              </a:ln>
            </p:spPr>
            <p:txBody>
              <a:bodyPr vert="horz" anchor="ctr" tIns="45720" lIns="91440" bIns="45720" rIns="91440">
                <a:normAutofit/>
              </a:bodyPr>
              <a:p>
                <a:pPr algn="ctr" marL="0"/>
              </a:p>
            </p:txBody>
          </p:sp>
        </p:grpSp>
        <p:sp>
          <p:nvSpPr>
            <p:cNvPr name="AutoShape 6" id="6"/>
            <p:cNvSpPr/>
            <p:nvPr/>
          </p:nvSpPr>
          <p:spPr>
            <a:xfrm>
              <a:off x="-336550" y="0"/>
              <a:ext cx="12192000" cy="6858000"/>
            </a:xfrm>
            <a:prstGeom prst="rect">
              <a:avLst/>
            </a:prstGeom>
            <a:solidFill>
              <a:srgbClr val="000000">
                <a:alpha val="12000"/>
              </a:srgbClr>
            </a:solidFill>
            <a:ln cap="flat" cmpd="sng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ctr" marL="0"/>
            </a:p>
          </p:txBody>
        </p:sp>
      </p:grpSp>
      <p:sp>
        <p:nvSpPr>
          <p:cNvPr name="AutoShape 7" id="7"/>
          <p:cNvSpPr/>
          <p:nvPr>
            <p:ph type="ctrTitle"/>
          </p:nvPr>
        </p:nvSpPr>
        <p:spPr>
          <a:xfrm>
            <a:off x="1699491" y="3145355"/>
            <a:ext cx="6090556" cy="1173162"/>
          </a:xfrm>
          <a:noFill/>
        </p:spPr>
        <p:txBody>
          <a:bodyPr vert="horz" anchor="b" wrap="square" tIns="45720" lIns="91440" bIns="45720" rIns="91440">
            <a:noAutofit/>
          </a:bodyPr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b="true" i="false" sz="4000" baseline="0" u="none">
                <a:solidFill>
                  <a:srgbClr val="FFFFFF"/>
                </a:solidFill>
                <a:latin typeface="Arial"/>
                <a:ea typeface="Arial"/>
              </a:rPr>
              <a:t>Click to edit </a:t>
            </a:r>
            <a:br>
              <a:rPr lang="en-US" b="true" i="false" sz="4000" baseline="0" u="none">
                <a:solidFill>
                  <a:srgbClr val="FFFFFF"/>
                </a:solidFill>
                <a:latin typeface="Arial"/>
                <a:ea typeface="Arial"/>
              </a:rPr>
            </a:br>
            <a:r>
              <a:rPr lang="en-US" b="true" i="false" sz="4000" baseline="0" u="none">
                <a:solidFill>
                  <a:srgbClr val="FFFFFF"/>
                </a:solidFill>
                <a:latin typeface="Arial"/>
                <a:ea typeface="Arial"/>
              </a:rPr>
              <a:t>Master title style</a:t>
            </a:r>
          </a:p>
        </p:txBody>
      </p:sp>
      <p:sp>
        <p:nvSpPr>
          <p:cNvPr name="AutoShape 8" id="8"/>
          <p:cNvSpPr/>
          <p:nvPr>
            <p:ph type="body" sz="quarter" idx="15"/>
          </p:nvPr>
        </p:nvSpPr>
        <p:spPr>
          <a:xfrm>
            <a:off x="660400" y="723900"/>
            <a:ext cx="1039091" cy="296271"/>
          </a:xfrm>
        </p:spPr>
        <p:txBody>
          <a:bodyPr vert="horz" anchor="ctr" wrap="none" tIns="45720" lIns="91440" bIns="45720" rIns="91440">
            <a:normAutofit/>
          </a:bodyPr>
          <a:p>
            <a:pPr algn="l" indent="0" marL="0">
              <a:lnSpc>
                <a:spcPct val="90000"/>
              </a:lnSpc>
              <a:spcBef>
                <a:spcPts val="1000"/>
              </a:spcBef>
            </a:pPr>
            <a:r>
              <a:rPr lang="en-US" b="false" i="false" sz="1200" baseline="0" u="none">
                <a:solidFill>
                  <a:srgbClr val="FFFFFF"/>
                </a:solidFill>
                <a:latin typeface="Arial"/>
                <a:ea typeface="Arial"/>
              </a:rPr>
              <a:t>LGOO HERE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bg>
      <p:bgPr>
        <a:solidFill>
          <a:srgbClr val="2F2F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节标题">
    <p:bg>
      <p:bgPr>
        <a:solidFill>
          <a:srgbClr val="2F2F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0" y="0"/>
            <a:ext cx="12192000" cy="6858000"/>
            <a:chOff x="-336550" y="0"/>
            <a:chExt cx="12192000" cy="6858000"/>
          </a:xfrm>
        </p:grpSpPr>
        <p:grpSp>
          <p:nvGrpSpPr>
            <p:cNvPr name="Group 3" id="3"/>
            <p:cNvGrpSpPr/>
            <p:nvPr/>
          </p:nvGrpSpPr>
          <p:grpSpPr>
            <a:xfrm>
              <a:off x="-336550" y="0"/>
              <a:ext cx="12192000" cy="6858000"/>
              <a:chOff x="0" y="265112"/>
              <a:chExt cx="12192000" cy="6858000"/>
            </a:xfrm>
          </p:grpSpPr>
          <p:pic>
            <p:nvPicPr>
              <p:cNvPr name="image1.jpeg" id="4"/>
              <p:cNvPicPr>
                <a:picLocks noChangeAspect="true"/>
              </p:cNvPicPr>
              <p:nvPr/>
            </p:nvPicPr>
            <p:blipFill>
              <a:blip r:embed="rId2"/>
              <a:srcRect t="8320" b="8475" r="154"/>
              <a:stretch>
                <a:fillRect/>
              </a:stretch>
            </p:blipFill>
            <p:spPr>
              <a:xfrm>
                <a:off x="0" y="265112"/>
                <a:ext cx="12192000" cy="6858000"/>
              </a:xfrm>
              <a:prstGeom prst="rect">
                <a:avLst/>
              </a:prstGeom>
            </p:spPr>
          </p:pic>
          <p:sp>
            <p:nvSpPr>
              <p:cNvPr name="AutoShape 5" id="5"/>
              <p:cNvSpPr/>
              <p:nvPr/>
            </p:nvSpPr>
            <p:spPr>
              <a:xfrm>
                <a:off x="0" y="265112"/>
                <a:ext cx="12192000" cy="6858000"/>
              </a:xfrm>
              <a:prstGeom prst="rect">
                <a:avLst/>
              </a:prstGeom>
              <a:solidFill>
                <a:srgbClr val="000000">
                  <a:alpha val="50000"/>
                </a:srgbClr>
              </a:solidFill>
              <a:ln cap="flat" cmpd="sng">
                <a:prstDash val="solid"/>
              </a:ln>
            </p:spPr>
            <p:txBody>
              <a:bodyPr vert="horz" anchor="ctr" tIns="45720" lIns="91440" bIns="45720" rIns="91440">
                <a:normAutofit/>
              </a:bodyPr>
              <a:p>
                <a:pPr algn="ctr" marL="0"/>
              </a:p>
            </p:txBody>
          </p:sp>
        </p:grpSp>
        <p:sp>
          <p:nvSpPr>
            <p:cNvPr name="AutoShape 6" id="6"/>
            <p:cNvSpPr/>
            <p:nvPr/>
          </p:nvSpPr>
          <p:spPr>
            <a:xfrm>
              <a:off x="-336550" y="0"/>
              <a:ext cx="12192000" cy="6858000"/>
            </a:xfrm>
            <a:prstGeom prst="rect">
              <a:avLst/>
            </a:prstGeom>
            <a:solidFill>
              <a:srgbClr val="000000">
                <a:alpha val="12000"/>
              </a:srgbClr>
            </a:solidFill>
            <a:ln cap="flat" cmpd="sng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ctr" marL="0"/>
            </a:p>
          </p:txBody>
        </p:sp>
      </p:grpSp>
      <p:sp>
        <p:nvSpPr>
          <p:cNvPr name="AutoShape 7" id="7"/>
          <p:cNvSpPr/>
          <p:nvPr>
            <p:ph type="title"/>
          </p:nvPr>
        </p:nvSpPr>
        <p:spPr>
          <a:xfrm>
            <a:off x="3230418" y="2477943"/>
            <a:ext cx="5731164" cy="951057"/>
          </a:xfrm>
        </p:spPr>
        <p:txBody>
          <a:bodyPr vert="horz" anchor="b" tIns="45720" lIns="91440" bIns="45720" rIns="91440">
            <a:noAutofit/>
          </a:bodyPr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n-US" b="true" i="false" sz="11500" baseline="0" u="none">
                <a:solidFill>
                  <a:srgbClr val="FFFFFF"/>
                </a:solidFill>
                <a:latin typeface="Arial"/>
                <a:ea typeface="Arial"/>
              </a:rPr>
              <a:t>O1</a:t>
            </a:r>
          </a:p>
        </p:txBody>
      </p:sp>
      <p:sp>
        <p:nvSpPr>
          <p:cNvPr name="AutoShape 8" id="8"/>
          <p:cNvSpPr/>
          <p:nvPr>
            <p:ph type="body" idx="1"/>
          </p:nvPr>
        </p:nvSpPr>
        <p:spPr>
          <a:xfrm>
            <a:off x="3230418" y="3520932"/>
            <a:ext cx="5731164" cy="815104"/>
          </a:xfrm>
        </p:spPr>
        <p:txBody>
          <a:bodyPr vert="horz" anchor="t" tIns="45720" lIns="91440" bIns="45720" rIns="91440">
            <a:normAutofit/>
          </a:bodyPr>
          <a:p>
            <a:pPr algn="ctr" indent="0" marL="0">
              <a:lnSpc>
                <a:spcPct val="90000"/>
              </a:lnSpc>
              <a:spcBef>
                <a:spcPts val="1000"/>
              </a:spcBef>
            </a:pPr>
            <a:r>
              <a:rPr lang="en-US" b="true" i="false" sz="1800" baseline="0" u="none">
                <a:solidFill>
                  <a:srgbClr val="FFFFFF"/>
                </a:solidFill>
                <a:latin typeface="Arial"/>
                <a:ea typeface="Arial"/>
              </a:rPr>
              <a:t>Click to edit Master text styles</a:t>
            </a:r>
          </a:p>
        </p:txBody>
      </p:sp>
      <p:sp>
        <p:nvSpPr>
          <p:cNvPr name="Freeform 9" id="9"/>
          <p:cNvSpPr/>
          <p:nvPr/>
        </p:nvSpPr>
        <p:spPr>
          <a:xfrm>
            <a:off x="7443441" y="2859314"/>
            <a:ext cx="4746329" cy="3998686"/>
          </a:xfrm>
          <a:custGeom>
            <a:avLst/>
            <a:gdLst/>
            <a:ahLst/>
            <a:cxnLst/>
            <a:rect r="r" b="b" t="t" l="l"/>
            <a:pathLst>
              <a:path w="6798620" h="5727700" stroke="true" fill="norm" extrusionOk="true">
                <a:moveTo>
                  <a:pt x="4759325" y="0"/>
                </a:moveTo>
                <a:cubicBezTo>
                  <a:pt x="5416451" y="0"/>
                  <a:pt x="6042471" y="133177"/>
                  <a:pt x="6611869" y="374012"/>
                </a:cubicBezTo>
                <a:lnTo>
                  <a:pt x="6798620" y="458440"/>
                </a:lnTo>
                <a:lnTo>
                  <a:pt x="6798620" y="3185659"/>
                </a:lnTo>
                <a:lnTo>
                  <a:pt x="6748940" y="3119223"/>
                </a:lnTo>
                <a:cubicBezTo>
                  <a:pt x="6276024" y="2546181"/>
                  <a:pt x="5560329" y="2180925"/>
                  <a:pt x="4759323" y="2180925"/>
                </a:cubicBezTo>
                <a:cubicBezTo>
                  <a:pt x="3335313" y="2180925"/>
                  <a:pt x="2180925" y="3335314"/>
                  <a:pt x="2180925" y="4759323"/>
                </a:cubicBezTo>
                <a:cubicBezTo>
                  <a:pt x="2180925" y="5026325"/>
                  <a:pt x="2221509" y="5283848"/>
                  <a:pt x="2296845" y="5526060"/>
                </a:cubicBezTo>
                <a:lnTo>
                  <a:pt x="2370646" y="5727700"/>
                </a:lnTo>
                <a:lnTo>
                  <a:pt x="98818" y="5727700"/>
                </a:lnTo>
                <a:lnTo>
                  <a:pt x="96693" y="5718495"/>
                </a:lnTo>
                <a:cubicBezTo>
                  <a:pt x="33294" y="5408674"/>
                  <a:pt x="0" y="5087888"/>
                  <a:pt x="0" y="4759325"/>
                </a:cubicBezTo>
                <a:cubicBezTo>
                  <a:pt x="0" y="2130823"/>
                  <a:pt x="2130822" y="0"/>
                  <a:pt x="4759325" y="0"/>
                </a:cubicBezTo>
                <a:close/>
              </a:path>
            </a:pathLst>
          </a:custGeom>
          <a:solidFill>
            <a:schemeClr val="accent1">
              <a:alpha val="42000"/>
            </a:schemeClr>
          </a:solidFill>
          <a:ln cap="flat" cmpd="sng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10" id="10"/>
          <p:cNvSpPr/>
          <p:nvPr/>
        </p:nvSpPr>
        <p:spPr>
          <a:xfrm>
            <a:off x="6683664" y="2159000"/>
            <a:ext cx="5508336" cy="4699000"/>
          </a:xfrm>
          <a:custGeom>
            <a:avLst/>
            <a:gdLst/>
            <a:ahLst/>
            <a:cxnLst/>
            <a:rect r="r" b="b" t="t" l="l"/>
            <a:pathLst>
              <a:path w="5508336" h="4699000" stroke="true" fill="norm" extrusionOk="true">
                <a:moveTo>
                  <a:pt x="4076700" y="0"/>
                </a:moveTo>
                <a:cubicBezTo>
                  <a:pt x="4569215" y="0"/>
                  <a:pt x="5041332" y="87339"/>
                  <a:pt x="5478406" y="247373"/>
                </a:cubicBezTo>
                <a:lnTo>
                  <a:pt x="5508336" y="259174"/>
                </a:lnTo>
                <a:lnTo>
                  <a:pt x="5508336" y="4699000"/>
                </a:lnTo>
                <a:lnTo>
                  <a:pt x="52408" y="4699000"/>
                </a:lnTo>
                <a:lnTo>
                  <a:pt x="21048" y="4493519"/>
                </a:lnTo>
                <a:cubicBezTo>
                  <a:pt x="7130" y="4356472"/>
                  <a:pt x="0" y="4217419"/>
                  <a:pt x="0" y="4076700"/>
                </a:cubicBezTo>
                <a:cubicBezTo>
                  <a:pt x="0" y="1825201"/>
                  <a:pt x="1825201" y="0"/>
                  <a:pt x="4076700" y="0"/>
                </a:cubicBezTo>
                <a:close/>
              </a:path>
            </a:pathLst>
          </a:custGeom>
          <a:ln w="6350" cap="flat" cmpd="sng">
            <a:solidFill>
              <a:srgbClr val="FFFFFF"/>
            </a:solidFill>
            <a:prstDash val="solid"/>
          </a:ln>
        </p:spPr>
        <p:txBody>
          <a:bodyPr vert="horz" anchor="ctr" wrap="square" tIns="45720" lIns="91440" bIns="45720" rIns="91440">
            <a:noAutofit/>
          </a:bodyPr>
          <a:p>
            <a:pPr algn="ctr" marL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仅标题">
    <p:bg>
      <p:bgPr>
        <a:solidFill>
          <a:srgbClr val="2F2F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0" y="0"/>
            <a:ext cx="12192000" cy="6858000"/>
            <a:chOff x="0" y="265112"/>
            <a:chExt cx="12192000" cy="6858000"/>
          </a:xfrm>
        </p:grpSpPr>
        <p:pic>
          <p:nvPicPr>
            <p:cNvPr name="image1.jpeg" id="3"/>
            <p:cNvPicPr>
              <a:picLocks noChangeAspect="true"/>
            </p:cNvPicPr>
            <p:nvPr/>
          </p:nvPicPr>
          <p:blipFill>
            <a:blip r:embed="rId2"/>
            <a:srcRect t="8320" b="8475" r="154"/>
            <a:stretch>
              <a:fillRect/>
            </a:stretch>
          </p:blipFill>
          <p:spPr>
            <a:xfrm>
              <a:off x="0" y="265112"/>
              <a:ext cx="12192000" cy="6858000"/>
            </a:xfrm>
            <a:prstGeom prst="rect">
              <a:avLst/>
            </a:prstGeom>
          </p:spPr>
        </p:pic>
        <p:sp>
          <p:nvSpPr>
            <p:cNvPr name="AutoShape 4" id="4"/>
            <p:cNvSpPr/>
            <p:nvPr/>
          </p:nvSpPr>
          <p:spPr>
            <a:xfrm>
              <a:off x="0" y="265112"/>
              <a:ext cx="12192000" cy="6858000"/>
            </a:xfrm>
            <a:prstGeom prst="rect">
              <a:avLst/>
            </a:prstGeom>
            <a:solidFill>
              <a:srgbClr val="000000">
                <a:alpha val="50000"/>
              </a:srgbClr>
            </a:solidFill>
            <a:ln cap="flat" cmpd="sng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ctr" marL="0"/>
            </a:p>
          </p:txBody>
        </p:sp>
      </p:grpSp>
      <p:sp>
        <p:nvSpPr>
          <p:cNvPr name="AutoShape 5" id="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65000"/>
            </a:srgbClr>
          </a:solidFill>
          <a:ln cap="flat" cmpd="sng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6" id="6"/>
          <p:cNvSpPr/>
          <p:nvPr>
            <p:ph type="title"/>
          </p:nvPr>
        </p:nvSpPr>
        <p:spPr>
          <a:xfrm>
            <a:off x="660400" y="0"/>
            <a:ext cx="10858500" cy="1028700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b="true" i="false" sz="2800" baseline="0" u="none">
                <a:solidFill>
                  <a:srgbClr val="FFFFFF"/>
                </a:solidFill>
                <a:latin typeface="Arial"/>
                <a:ea typeface="Arial"/>
              </a:rP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2F2F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0" y="0"/>
            <a:ext cx="12192000" cy="6858000"/>
            <a:chOff x="-336550" y="0"/>
            <a:chExt cx="12192000" cy="6858000"/>
          </a:xfrm>
        </p:grpSpPr>
        <p:grpSp>
          <p:nvGrpSpPr>
            <p:cNvPr name="Group 3" id="3"/>
            <p:cNvGrpSpPr/>
            <p:nvPr/>
          </p:nvGrpSpPr>
          <p:grpSpPr>
            <a:xfrm>
              <a:off x="-336550" y="0"/>
              <a:ext cx="12192000" cy="6858000"/>
              <a:chOff x="0" y="265112"/>
              <a:chExt cx="12192000" cy="6858000"/>
            </a:xfrm>
          </p:grpSpPr>
          <p:pic>
            <p:nvPicPr>
              <p:cNvPr name="image1.jpeg" id="4"/>
              <p:cNvPicPr>
                <a:picLocks noChangeAspect="true"/>
              </p:cNvPicPr>
              <p:nvPr/>
            </p:nvPicPr>
            <p:blipFill>
              <a:blip r:embed="rId2"/>
              <a:srcRect t="8320" b="8475" r="154"/>
              <a:stretch>
                <a:fillRect/>
              </a:stretch>
            </p:blipFill>
            <p:spPr>
              <a:xfrm>
                <a:off x="0" y="265112"/>
                <a:ext cx="12192000" cy="6858000"/>
              </a:xfrm>
              <a:prstGeom prst="rect">
                <a:avLst/>
              </a:prstGeom>
            </p:spPr>
          </p:pic>
          <p:sp>
            <p:nvSpPr>
              <p:cNvPr name="AutoShape 5" id="5"/>
              <p:cNvSpPr/>
              <p:nvPr/>
            </p:nvSpPr>
            <p:spPr>
              <a:xfrm>
                <a:off x="0" y="265112"/>
                <a:ext cx="12192000" cy="6858000"/>
              </a:xfrm>
              <a:prstGeom prst="rect">
                <a:avLst/>
              </a:prstGeom>
              <a:solidFill>
                <a:srgbClr val="000000">
                  <a:alpha val="50000"/>
                </a:srgbClr>
              </a:solidFill>
              <a:ln cap="flat" cmpd="sng">
                <a:prstDash val="solid"/>
              </a:ln>
            </p:spPr>
            <p:txBody>
              <a:bodyPr vert="horz" anchor="ctr" tIns="45720" lIns="91440" bIns="45720" rIns="91440">
                <a:normAutofit/>
              </a:bodyPr>
              <a:p>
                <a:pPr algn="ctr" marL="0"/>
              </a:p>
            </p:txBody>
          </p:sp>
        </p:grpSp>
        <p:sp>
          <p:nvSpPr>
            <p:cNvPr name="AutoShape 6" id="6"/>
            <p:cNvSpPr/>
            <p:nvPr/>
          </p:nvSpPr>
          <p:spPr>
            <a:xfrm>
              <a:off x="-336550" y="0"/>
              <a:ext cx="12192000" cy="6858000"/>
            </a:xfrm>
            <a:prstGeom prst="rect">
              <a:avLst/>
            </a:prstGeom>
            <a:solidFill>
              <a:srgbClr val="000000">
                <a:alpha val="12000"/>
              </a:srgbClr>
            </a:solidFill>
            <a:ln cap="flat" cmpd="sng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ctr" marL="0"/>
            </a:p>
          </p:txBody>
        </p:sp>
      </p:grpSp>
      <p:sp>
        <p:nvSpPr>
          <p:cNvPr name="AutoShape 7" id="7"/>
          <p:cNvSpPr/>
          <p:nvPr>
            <p:ph type="body" sz="quarter" idx="13"/>
          </p:nvPr>
        </p:nvSpPr>
        <p:spPr>
          <a:xfrm>
            <a:off x="660400" y="2398313"/>
            <a:ext cx="10858500" cy="1643062"/>
          </a:xfrm>
        </p:spPr>
        <p:txBody>
          <a:bodyPr vert="horz" anchor="b" tIns="45720" lIns="91440" bIns="45720" rIns="91440">
            <a:normAutofit/>
          </a:bodyPr>
          <a:p>
            <a:pPr algn="ctr" indent="0" marL="0">
              <a:lnSpc>
                <a:spcPct val="90000"/>
              </a:lnSpc>
              <a:spcBef>
                <a:spcPts val="1000"/>
              </a:spcBef>
            </a:pPr>
            <a:r>
              <a:rPr lang="en-US" b="true" i="false" sz="9600" baseline="0" u="none">
                <a:solidFill>
                  <a:srgbClr val="FFFFFF"/>
                </a:solidFill>
                <a:latin typeface="Arial"/>
                <a:ea typeface="Arial"/>
              </a:rPr>
              <a:t>Thanks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theme/theme1.xml" Type="http://schemas.openxmlformats.org/officeDocument/2006/relationships/theme"/><Relationship Id="rId3" Target="../slideLayouts/slideLayout2.xml" Type="http://schemas.openxmlformats.org/officeDocument/2006/relationships/slideLayout"/><Relationship Id="rId4" Target="../slideLayouts/slideLayout3.xml" Type="http://schemas.openxmlformats.org/officeDocument/2006/relationships/slideLayout"/><Relationship Id="rId5" Target="../slideLayouts/slideLayout4.xml" Type="http://schemas.openxmlformats.org/officeDocument/2006/relationships/slideLayout"/><Relationship Id="rId6" Target="../slideLayouts/slideLayout5.xml" Type="http://schemas.openxmlformats.org/officeDocument/2006/relationships/slideLayout"/><Relationship Id="rId7" Target="../slideLayouts/slideLayout6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2F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400" y="0"/>
            <a:ext cx="10858500" cy="1028700"/>
          </a:xfrm>
          <a:prstGeom prst="rect">
            <a:avLst/>
          </a:prstGeo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b="true" i="false" sz="2800" baseline="0" u="none">
                <a:solidFill>
                  <a:srgbClr val="FFFFFF"/>
                </a:solidFill>
                <a:latin typeface="Arial"/>
                <a:ea typeface="Arial"/>
              </a:rPr>
              <a:t>Click to edit Master title style</a:t>
            </a:r>
          </a:p>
        </p:txBody>
      </p:sp>
      <p:sp>
        <p:nvSpPr>
          <p:cNvPr name="AutoShape 3" id="3"/>
          <p:cNvSpPr/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anchor="t" tIns="45720" lIns="91440" bIns="45720" rIns="91440">
            <a:normAutofit/>
          </a:bodyPr>
          <a:p>
            <a:pPr algn="l" indent="-228600" marL="228600">
              <a:lnSpc>
                <a:spcPct val="90000"/>
              </a:lnSpc>
              <a:spcBef>
                <a:spcPts val="1000"/>
              </a:spcBef>
            </a:pPr>
            <a:r>
              <a:rPr lang="en-US" b="false" i="false" sz="1800" baseline="0" u="none">
                <a:solidFill>
                  <a:srgbClr val="FFFFFF"/>
                </a:solidFill>
                <a:latin typeface="Arial"/>
                <a:ea typeface="Arial"/>
              </a:rPr>
              <a:t>Click to edit Master text styles</a:t>
            </a:r>
          </a:p>
          <a:p>
            <a:pPr algn="l" indent="-228600" lvl="1" marL="685800">
              <a:lnSpc>
                <a:spcPct val="90000"/>
              </a:lnSpc>
              <a:spcBef>
                <a:spcPts val="500"/>
              </a:spcBef>
            </a:pPr>
            <a:r>
              <a:rPr lang="en-US" b="false" i="false" sz="1600" baseline="0" u="none">
                <a:solidFill>
                  <a:srgbClr val="FFFFFF"/>
                </a:solidFill>
                <a:latin typeface="Arial"/>
                <a:ea typeface="Arial"/>
              </a:rPr>
              <a:t>Second level</a:t>
            </a:r>
          </a:p>
          <a:p>
            <a:pPr algn="l" indent="-228600" lvl="2" marL="1143000">
              <a:lnSpc>
                <a:spcPct val="90000"/>
              </a:lnSpc>
              <a:spcBef>
                <a:spcPts val="500"/>
              </a:spcBef>
            </a:pPr>
            <a:r>
              <a:rPr lang="en-US" b="false" i="false" sz="1400" baseline="0" u="none">
                <a:solidFill>
                  <a:srgbClr val="FFFFFF"/>
                </a:solidFill>
                <a:latin typeface="Arial"/>
                <a:ea typeface="Arial"/>
              </a:rPr>
              <a:t>Third level</a:t>
            </a:r>
          </a:p>
          <a:p>
            <a:pPr algn="l" indent="-228600" lvl="3" marL="1600200">
              <a:lnSpc>
                <a:spcPct val="90000"/>
              </a:lnSpc>
              <a:spcBef>
                <a:spcPts val="500"/>
              </a:spcBef>
            </a:pPr>
            <a:r>
              <a:rPr lang="en-US" b="false" i="false" sz="1200" baseline="0" u="none">
                <a:solidFill>
                  <a:srgbClr val="FFFFFF"/>
                </a:solidFill>
                <a:latin typeface="Arial"/>
                <a:ea typeface="Arial"/>
              </a:rPr>
              <a:t>Fourth level</a:t>
            </a:r>
          </a:p>
          <a:p>
            <a:pPr algn="l" indent="-228600" lvl="4" marL="2057400">
              <a:lnSpc>
                <a:spcPct val="90000"/>
              </a:lnSpc>
              <a:spcBef>
                <a:spcPts val="500"/>
              </a:spcBef>
            </a:pPr>
            <a:r>
              <a:rPr lang="en-US" b="false" i="false" sz="1200" baseline="0" u="none">
                <a:solidFill>
                  <a:srgbClr val="FFFFFF"/>
                </a:solidFill>
                <a:latin typeface="Arial"/>
                <a:ea typeface="Arial"/>
              </a:rP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3"/>
    <p:sldLayoutId id="2147483657" r:id="rId4"/>
    <p:sldLayoutId id="2147483658" r:id="rId5"/>
    <p:sldLayoutId id="2147483659" r:id="rId6"/>
    <p:sldLayoutId id="2147483660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4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4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4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4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4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4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image5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2F2F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699491" y="4660900"/>
            <a:ext cx="2676726" cy="508401"/>
          </a:xfrm>
          <a:prstGeom prst="rect">
            <a:avLst/>
          </a:prstGeom>
          <a:solidFill>
            <a:srgbClr val="C00000"/>
          </a:solidFill>
          <a:ln cap="flat" cmpd="sng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  <a:r>
              <a:rPr lang="zh-CN" b="false" i="false" sz="1400" baseline="0" u="none" altLang="en-US">
                <a:solidFill>
                  <a:schemeClr val="lt1"/>
                </a:solidFill>
                <a:latin typeface="微软雅黑"/>
                <a:ea typeface="微软雅黑"/>
              </a:rPr>
              <a:t>汇报人</a:t>
            </a:r>
          </a:p>
        </p:txBody>
      </p:sp>
      <p:sp>
        <p:nvSpPr>
          <p:cNvPr name="AutoShape 3" id="3"/>
          <p:cNvSpPr/>
          <p:nvPr>
            <p:ph type="ctrTitle"/>
          </p:nvPr>
        </p:nvSpPr>
        <p:spPr>
          <a:xfrm>
            <a:off x="1699491" y="2259208"/>
            <a:ext cx="6777990" cy="1173162"/>
          </a:xfrm>
          <a:noFill/>
        </p:spPr>
        <p:txBody>
          <a:bodyPr vert="horz" anchor="b" wrap="none" tIns="45720" lIns="91440" bIns="45720" rIns="91440">
            <a:noAutofit/>
          </a:bodyPr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b="true" i="false" sz="4000" baseline="0" u="none" altLang="en-US">
                <a:solidFill>
                  <a:srgbClr val="FFFFFF"/>
                </a:solidFill>
                <a:latin typeface="+mn-ea"/>
                <a:ea typeface="+mn-ea"/>
              </a:rPr>
              <a:t>大数组并行求和的性能分析与优化</a:t>
            </a:r>
          </a:p>
        </p:txBody>
      </p:sp>
      <p:cxnSp>
        <p:nvCxnSpPr>
          <p:cNvPr name="Connector 4" id="4"/>
          <p:cNvCxnSpPr/>
          <p:nvPr/>
        </p:nvCxnSpPr>
        <p:spPr>
          <a:xfrm flipH="true">
            <a:off x="1699491" y="4285284"/>
            <a:ext cx="7349490" cy="0"/>
          </a:xfrm>
          <a:prstGeom prst="line">
            <a:avLst/>
          </a:prstGeom>
          <a:ln w="9525" cap="flat" cmpd="sng">
            <a:solidFill>
              <a:srgbClr val="FFFFFF"/>
            </a:solidFill>
            <a:prstDash val="solid"/>
          </a:ln>
        </p:spPr>
      </p:cxnSp>
      <p:sp>
        <p:nvSpPr>
          <p:cNvPr name="Freeform 5" id="5"/>
          <p:cNvSpPr/>
          <p:nvPr/>
        </p:nvSpPr>
        <p:spPr>
          <a:xfrm flipH="true" rot="10800000">
            <a:off x="3390901" y="-12700"/>
            <a:ext cx="8801099" cy="6858000"/>
          </a:xfrm>
          <a:custGeom>
            <a:avLst/>
            <a:gdLst/>
            <a:ahLst/>
            <a:cxnLst/>
            <a:rect r="r" b="b" t="t" l="l"/>
            <a:pathLst>
              <a:path w="8801099" h="6858000" stroke="true" fill="norm" extrusionOk="true">
                <a:moveTo>
                  <a:pt x="5337382" y="6460991"/>
                </a:moveTo>
                <a:cubicBezTo>
                  <a:pt x="3789317" y="6463504"/>
                  <a:pt x="2494729" y="5251085"/>
                  <a:pt x="2412935" y="3687662"/>
                </a:cubicBezTo>
                <a:cubicBezTo>
                  <a:pt x="2328504" y="2073808"/>
                  <a:pt x="3568343" y="697075"/>
                  <a:pt x="5182198" y="612643"/>
                </a:cubicBezTo>
                <a:cubicBezTo>
                  <a:pt x="5283065" y="607365"/>
                  <a:pt x="5383003" y="607262"/>
                  <a:pt x="5481759" y="612098"/>
                </a:cubicBezTo>
                <a:cubicBezTo>
                  <a:pt x="6963095" y="684652"/>
                  <a:pt x="8178063" y="1868917"/>
                  <a:pt x="8257219" y="3381906"/>
                </a:cubicBezTo>
                <a:cubicBezTo>
                  <a:pt x="8341651" y="4995761"/>
                  <a:pt x="7101811" y="6372493"/>
                  <a:pt x="5487954" y="6456926"/>
                </a:cubicBezTo>
                <a:cubicBezTo>
                  <a:pt x="5437521" y="6459565"/>
                  <a:pt x="5387320" y="6460910"/>
                  <a:pt x="5337382" y="6460991"/>
                </a:cubicBezTo>
                <a:close/>
                <a:moveTo>
                  <a:pt x="1162458" y="6858000"/>
                </a:moveTo>
                <a:lnTo>
                  <a:pt x="8801099" y="6858000"/>
                </a:lnTo>
                <a:lnTo>
                  <a:pt x="8801099" y="0"/>
                </a:lnTo>
                <a:lnTo>
                  <a:pt x="1342078" y="0"/>
                </a:lnTo>
                <a:lnTo>
                  <a:pt x="1204037" y="158907"/>
                </a:lnTo>
                <a:cubicBezTo>
                  <a:pt x="393615" y="1150020"/>
                  <a:pt x="-64739" y="2434272"/>
                  <a:pt x="7418" y="3813514"/>
                </a:cubicBezTo>
                <a:cubicBezTo>
                  <a:pt x="66949" y="4951388"/>
                  <a:pt x="478843" y="5987284"/>
                  <a:pt x="1131836" y="6821002"/>
                </a:cubicBezTo>
                <a:close/>
              </a:path>
            </a:pathLst>
          </a:custGeom>
          <a:ln w="12700" cap="flat" cmpd="sng">
            <a:gradFill>
              <a:gsLst>
                <a:gs pos="0">
                  <a:srgbClr val="FFFFFF"/>
                </a:gs>
                <a:gs pos="36300">
                  <a:srgbClr val="FFFFFF">
                    <a:alpha val="0"/>
                  </a:srgbClr>
                </a:gs>
                <a:gs pos="60000">
                  <a:srgbClr val="FFFFFF">
                    <a:alpha val="0"/>
                  </a:srgbClr>
                </a:gs>
                <a:gs pos="100000">
                  <a:srgbClr val="FFFFFF"/>
                </a:gs>
              </a:gsLst>
              <a:lin ang="6000000"/>
            </a:gradFill>
            <a:prstDash val="solid"/>
          </a:ln>
        </p:spPr>
        <p:txBody>
          <a:bodyPr vert="horz" anchor="ctr" wrap="square" tIns="45720" lIns="91440" bIns="45720" rIns="91440">
            <a:noAutofit/>
          </a:bodyPr>
          <a:p>
            <a:pPr algn="ctr" marL="0"/>
          </a:p>
        </p:txBody>
      </p:sp>
      <p:sp>
        <p:nvSpPr>
          <p:cNvPr name="AutoShape 6" id="6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t" rtlCol="false"/>
          <a:lstStyle/>
          <a:p>
            <a:pPr algn="r">
              <a:defRPr/>
            </a:pPr>
            <a:r>
              <a:rPr lang="en-US" b="false" i="false" sz="800" baseline="0" u="none">
                <a:solidFill>
                  <a:srgbClr val="808080"/>
                </a:solidFill>
                <a:latin typeface="Microsoft YaHei"/>
                <a:ea typeface="Microsoft YaHei"/>
              </a:rPr>
              <a:t>Created By AI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F2F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image1.jpeg" id="2"/>
          <p:cNvPicPr>
            <a:picLocks noChangeAspect="true"/>
          </p:cNvPicPr>
          <p:nvPr/>
        </p:nvPicPr>
        <p:blipFill>
          <a:blip r:embed="rId2"/>
          <a:srcRect t="8320" b="8475" r="15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AutoShape 3" id="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12000"/>
            </a:srgbClr>
          </a:solidFill>
          <a:ln cap="flat" cmpd="sng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4" id="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50000"/>
            </a:srgbClr>
          </a:solidFill>
          <a:ln cap="flat" cmpd="sng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5" id="5"/>
          <p:cNvSpPr/>
          <p:nvPr/>
        </p:nvSpPr>
        <p:spPr>
          <a:xfrm>
            <a:off x="1276450" y="1371861"/>
            <a:ext cx="4160074" cy="586957"/>
          </a:xfrm>
          <a:prstGeom prst="rect">
            <a:avLst/>
          </a:prstGeom>
        </p:spPr>
        <p:txBody>
          <a:bodyPr vert="horz" anchor="b" wrap="square" tIns="46800" lIns="90000" bIns="46800" rIns="90000">
            <a:spAutoFit/>
          </a:bodyPr>
          <a:p>
            <a:pPr algn="l" marL="0"/>
            <a:r>
              <a:rPr lang="en-US" b="true" i="false" sz="3200" baseline="0" u="none">
                <a:solidFill>
                  <a:srgbClr val="FFFFFF"/>
                </a:solidFill>
                <a:latin typeface="Arial"/>
                <a:ea typeface="Arial"/>
              </a:rPr>
              <a:t>CONTENTS</a:t>
            </a:r>
          </a:p>
        </p:txBody>
      </p:sp>
      <p:cxnSp>
        <p:nvCxnSpPr>
          <p:cNvPr name="Connector 6" id="6"/>
          <p:cNvCxnSpPr/>
          <p:nvPr/>
        </p:nvCxnSpPr>
        <p:spPr>
          <a:xfrm>
            <a:off x="5965371" y="1404607"/>
            <a:ext cx="0" cy="673840"/>
          </a:xfrm>
          <a:prstGeom prst="line">
            <a:avLst/>
          </a:prstGeom>
          <a:ln w="12700" cap="flat" cmpd="sng">
            <a:solidFill>
              <a:srgbClr val="FFFFFF"/>
            </a:solidFill>
            <a:prstDash val="solid"/>
          </a:ln>
        </p:spPr>
      </p:cxnSp>
      <p:sp>
        <p:nvSpPr>
          <p:cNvPr name="TextBox 7" id="7"/>
          <p:cNvSpPr txBox="true"/>
          <p:nvPr/>
        </p:nvSpPr>
        <p:spPr>
          <a:xfrm>
            <a:off x="1291985" y="5292150"/>
            <a:ext cx="1819234" cy="525401"/>
          </a:xfrm>
          <a:prstGeom prst="rect">
            <a:avLst/>
          </a:prstGeom>
          <a:noFill/>
        </p:spPr>
        <p:txBody>
          <a:bodyPr anchor="ctr" rtlCol="false" vert="horz" wrap="square" tIns="46800" lIns="90000" bIns="46800" rIns="90000">
            <a:spAutoFit/>
          </a:bodyPr>
          <a:lstStyle/>
          <a:p>
            <a:pPr algn="l" marL="0">
              <a:defRPr/>
            </a:pPr>
            <a:r>
              <a:rPr lang="en-US" b="true" i="false" sz="2800" baseline="0" u="none">
                <a:solidFill>
                  <a:srgbClr val="FFFFFF"/>
                </a:solidFill>
                <a:latin typeface="Arial"/>
                <a:ea typeface="Arial"/>
              </a:rPr>
              <a:t>03</a:t>
            </a:r>
            <a:endParaRPr lang="en-US" sz="1100"/>
          </a:p>
        </p:txBody>
      </p:sp>
      <p:sp>
        <p:nvSpPr>
          <p:cNvPr name="TextBox 8" id="8"/>
          <p:cNvSpPr txBox="true"/>
          <p:nvPr/>
        </p:nvSpPr>
        <p:spPr>
          <a:xfrm>
            <a:off x="1291982" y="3992593"/>
            <a:ext cx="2223984" cy="307777"/>
          </a:xfrm>
          <a:prstGeom prst="rect">
            <a:avLst/>
          </a:prstGeom>
          <a:noFill/>
        </p:spPr>
        <p:txBody>
          <a:bodyPr anchor="b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4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多线程并行求和的实现</a:t>
            </a:r>
            <a:endParaRPr lang="en-US" sz="1100"/>
          </a:p>
        </p:txBody>
      </p:sp>
      <p:sp>
        <p:nvSpPr>
          <p:cNvPr name="TextBox 9" id="9"/>
          <p:cNvSpPr txBox="true"/>
          <p:nvPr/>
        </p:nvSpPr>
        <p:spPr>
          <a:xfrm>
            <a:off x="3888252" y="5292150"/>
            <a:ext cx="1819234" cy="525401"/>
          </a:xfrm>
          <a:prstGeom prst="rect">
            <a:avLst/>
          </a:prstGeom>
          <a:noFill/>
        </p:spPr>
        <p:txBody>
          <a:bodyPr anchor="ctr" rtlCol="false" vert="horz" wrap="square" tIns="46800" lIns="90000" bIns="46800" rIns="90000">
            <a:spAutoFit/>
          </a:bodyPr>
          <a:lstStyle/>
          <a:p>
            <a:pPr algn="l" marL="0">
              <a:defRPr/>
            </a:pPr>
            <a:r>
              <a:rPr lang="en-US" b="true" i="false" sz="2800" baseline="0" u="none">
                <a:solidFill>
                  <a:srgbClr val="FFFFFF"/>
                </a:solidFill>
                <a:latin typeface="Arial"/>
                <a:ea typeface="Arial"/>
              </a:rPr>
              <a:t>04</a:t>
            </a:r>
            <a:endParaRPr lang="en-US" sz="1100"/>
          </a:p>
        </p:txBody>
      </p:sp>
      <p:sp>
        <p:nvSpPr>
          <p:cNvPr name="TextBox 10" id="10"/>
          <p:cNvSpPr txBox="true"/>
          <p:nvPr/>
        </p:nvSpPr>
        <p:spPr>
          <a:xfrm>
            <a:off x="3888249" y="3992593"/>
            <a:ext cx="2223984" cy="307777"/>
          </a:xfrm>
          <a:prstGeom prst="rect">
            <a:avLst/>
          </a:prstGeom>
          <a:noFill/>
        </p:spPr>
        <p:txBody>
          <a:bodyPr anchor="b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4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多线程求和的性能优化</a:t>
            </a:r>
            <a:endParaRPr lang="en-US" sz="1100"/>
          </a:p>
        </p:txBody>
      </p:sp>
      <p:sp>
        <p:nvSpPr>
          <p:cNvPr name="TextBox 11" id="11"/>
          <p:cNvSpPr txBox="true"/>
          <p:nvPr/>
        </p:nvSpPr>
        <p:spPr>
          <a:xfrm>
            <a:off x="6344410" y="5292150"/>
            <a:ext cx="1819234" cy="525401"/>
          </a:xfrm>
          <a:prstGeom prst="rect">
            <a:avLst/>
          </a:prstGeom>
          <a:noFill/>
        </p:spPr>
        <p:txBody>
          <a:bodyPr anchor="ctr" rtlCol="false" vert="horz" wrap="square" tIns="46800" lIns="90000" bIns="46800" rIns="90000">
            <a:spAutoFit/>
          </a:bodyPr>
          <a:lstStyle/>
          <a:p>
            <a:pPr algn="l" marL="0">
              <a:defRPr/>
            </a:pPr>
            <a:r>
              <a:rPr lang="en-US" b="true" i="false" sz="2800" baseline="0" u="none">
                <a:solidFill>
                  <a:srgbClr val="FFFFFF"/>
                </a:solidFill>
                <a:latin typeface="Arial"/>
                <a:ea typeface="Arial"/>
              </a:rPr>
              <a:t>05</a:t>
            </a:r>
            <a:endParaRPr lang="en-US" sz="1100"/>
          </a:p>
        </p:txBody>
      </p:sp>
      <p:sp>
        <p:nvSpPr>
          <p:cNvPr name="TextBox 12" id="12"/>
          <p:cNvSpPr txBox="true"/>
          <p:nvPr/>
        </p:nvSpPr>
        <p:spPr>
          <a:xfrm>
            <a:off x="6344407" y="3992593"/>
            <a:ext cx="2223984" cy="307777"/>
          </a:xfrm>
          <a:prstGeom prst="rect">
            <a:avLst/>
          </a:prstGeom>
          <a:noFill/>
        </p:spPr>
        <p:txBody>
          <a:bodyPr anchor="b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4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实验结果与分析</a:t>
            </a:r>
            <a:endParaRPr lang="en-US" sz="1100"/>
          </a:p>
        </p:txBody>
      </p:sp>
      <p:sp>
        <p:nvSpPr>
          <p:cNvPr name="TextBox 13" id="13"/>
          <p:cNvSpPr txBox="true"/>
          <p:nvPr/>
        </p:nvSpPr>
        <p:spPr>
          <a:xfrm>
            <a:off x="9530614" y="5292150"/>
            <a:ext cx="1819234" cy="525401"/>
          </a:xfrm>
          <a:prstGeom prst="rect">
            <a:avLst/>
          </a:prstGeom>
          <a:noFill/>
        </p:spPr>
        <p:txBody>
          <a:bodyPr anchor="ctr" rtlCol="false" vert="horz" wrap="square" tIns="46800" lIns="90000" bIns="46800" rIns="90000">
            <a:spAutoFit/>
          </a:bodyPr>
          <a:lstStyle/>
          <a:p>
            <a:pPr algn="l" marL="0">
              <a:defRPr/>
            </a:pPr>
            <a:r>
              <a:rPr lang="en-US" b="true" i="false" sz="2800" baseline="0" u="none">
                <a:solidFill>
                  <a:srgbClr val="FFFFFF"/>
                </a:solidFill>
                <a:latin typeface="Arial"/>
                <a:ea typeface="Arial"/>
              </a:rPr>
              <a:t>06</a:t>
            </a:r>
            <a:endParaRPr lang="en-US" sz="1100"/>
          </a:p>
        </p:txBody>
      </p:sp>
      <p:sp>
        <p:nvSpPr>
          <p:cNvPr name="TextBox 14" id="14"/>
          <p:cNvSpPr txBox="true"/>
          <p:nvPr/>
        </p:nvSpPr>
        <p:spPr>
          <a:xfrm>
            <a:off x="9530611" y="3992593"/>
            <a:ext cx="2223984" cy="307777"/>
          </a:xfrm>
          <a:prstGeom prst="rect">
            <a:avLst/>
          </a:prstGeom>
          <a:noFill/>
        </p:spPr>
        <p:txBody>
          <a:bodyPr anchor="b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4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结论与展望</a:t>
            </a:r>
            <a:endParaRPr lang="en-US" sz="1100"/>
          </a:p>
        </p:txBody>
      </p:sp>
      <p:sp>
        <p:nvSpPr>
          <p:cNvPr name="TextBox 15" id="15"/>
          <p:cNvSpPr txBox="true"/>
          <p:nvPr/>
        </p:nvSpPr>
        <p:spPr>
          <a:xfrm>
            <a:off x="9525068" y="2704164"/>
            <a:ext cx="1819234" cy="525401"/>
          </a:xfrm>
          <a:prstGeom prst="rect">
            <a:avLst/>
          </a:prstGeom>
          <a:noFill/>
        </p:spPr>
        <p:txBody>
          <a:bodyPr anchor="ctr" rtlCol="false" vert="horz" wrap="square" tIns="46800" lIns="90000" bIns="46800" rIns="90000">
            <a:spAutoFit/>
          </a:bodyPr>
          <a:lstStyle/>
          <a:p>
            <a:pPr algn="l" marL="0">
              <a:defRPr/>
            </a:pPr>
            <a:r>
              <a:rPr lang="en-US" b="true" i="false" sz="2800" baseline="0" u="none">
                <a:solidFill>
                  <a:srgbClr val="FFFFFF"/>
                </a:solidFill>
                <a:latin typeface="Arial"/>
                <a:ea typeface="Arial"/>
              </a:rPr>
              <a:t>02</a:t>
            </a:r>
            <a:endParaRPr lang="en-US" sz="1100"/>
          </a:p>
        </p:txBody>
      </p:sp>
      <p:sp>
        <p:nvSpPr>
          <p:cNvPr name="TextBox 16" id="16"/>
          <p:cNvSpPr txBox="true"/>
          <p:nvPr/>
        </p:nvSpPr>
        <p:spPr>
          <a:xfrm>
            <a:off x="9525065" y="1404607"/>
            <a:ext cx="2223984" cy="307777"/>
          </a:xfrm>
          <a:prstGeom prst="rect">
            <a:avLst/>
          </a:prstGeom>
          <a:noFill/>
        </p:spPr>
        <p:txBody>
          <a:bodyPr anchor="b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4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单线程求和的性能分析</a:t>
            </a:r>
            <a:endParaRPr lang="en-US" sz="1100"/>
          </a:p>
        </p:txBody>
      </p:sp>
      <p:sp>
        <p:nvSpPr>
          <p:cNvPr name="TextBox 17" id="17"/>
          <p:cNvSpPr txBox="true"/>
          <p:nvPr/>
        </p:nvSpPr>
        <p:spPr>
          <a:xfrm>
            <a:off x="6394122" y="2704164"/>
            <a:ext cx="1819234" cy="525401"/>
          </a:xfrm>
          <a:prstGeom prst="rect">
            <a:avLst/>
          </a:prstGeom>
          <a:noFill/>
        </p:spPr>
        <p:txBody>
          <a:bodyPr anchor="ctr" rtlCol="false" vert="horz" wrap="square" tIns="46800" lIns="90000" bIns="46800" rIns="90000">
            <a:spAutoFit/>
          </a:bodyPr>
          <a:lstStyle/>
          <a:p>
            <a:pPr algn="l" marL="0">
              <a:defRPr/>
            </a:pPr>
            <a:r>
              <a:rPr lang="en-US" b="true" i="false" sz="2800" baseline="0" u="none">
                <a:solidFill>
                  <a:srgbClr val="FFFFFF"/>
                </a:solidFill>
                <a:latin typeface="Arial"/>
                <a:ea typeface="Arial"/>
              </a:rPr>
              <a:t>01</a:t>
            </a:r>
            <a:endParaRPr lang="en-US" sz="1100"/>
          </a:p>
        </p:txBody>
      </p:sp>
      <p:sp>
        <p:nvSpPr>
          <p:cNvPr name="TextBox 18" id="18"/>
          <p:cNvSpPr txBox="true"/>
          <p:nvPr/>
        </p:nvSpPr>
        <p:spPr>
          <a:xfrm>
            <a:off x="6394119" y="1404607"/>
            <a:ext cx="2223984" cy="307777"/>
          </a:xfrm>
          <a:prstGeom prst="rect">
            <a:avLst/>
          </a:prstGeom>
          <a:noFill/>
        </p:spPr>
        <p:txBody>
          <a:bodyPr anchor="b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4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引言：大数据时代下的计算挑战</a:t>
            </a:r>
            <a:endParaRPr lang="en-US" sz="1100"/>
          </a:p>
        </p:txBody>
      </p:sp>
      <p:cxnSp>
        <p:nvCxnSpPr>
          <p:cNvPr name="Connector 19" id="19"/>
          <p:cNvCxnSpPr/>
          <p:nvPr/>
        </p:nvCxnSpPr>
        <p:spPr>
          <a:xfrm flipV="true">
            <a:off x="1399446" y="4492333"/>
            <a:ext cx="1060725" cy="12619"/>
          </a:xfrm>
          <a:prstGeom prst="line">
            <a:avLst/>
          </a:prstGeom>
          <a:ln w="6350" cap="flat" cmpd="sng">
            <a:solidFill>
              <a:srgbClr val="FFFFFF"/>
            </a:solidFill>
            <a:prstDash val="solid"/>
          </a:ln>
        </p:spPr>
      </p:cxnSp>
      <p:cxnSp>
        <p:nvCxnSpPr>
          <p:cNvPr name="Connector 20" id="20"/>
          <p:cNvCxnSpPr/>
          <p:nvPr/>
        </p:nvCxnSpPr>
        <p:spPr>
          <a:xfrm flipV="true">
            <a:off x="3939516" y="4479714"/>
            <a:ext cx="1060725" cy="12619"/>
          </a:xfrm>
          <a:prstGeom prst="line">
            <a:avLst/>
          </a:prstGeom>
          <a:ln w="6350" cap="flat" cmpd="sng">
            <a:solidFill>
              <a:srgbClr val="FFFFFF"/>
            </a:solidFill>
            <a:prstDash val="solid"/>
          </a:ln>
        </p:spPr>
      </p:cxnSp>
      <p:cxnSp>
        <p:nvCxnSpPr>
          <p:cNvPr name="Connector 21" id="21"/>
          <p:cNvCxnSpPr/>
          <p:nvPr/>
        </p:nvCxnSpPr>
        <p:spPr>
          <a:xfrm flipV="true">
            <a:off x="6395674" y="4525547"/>
            <a:ext cx="1060725" cy="12619"/>
          </a:xfrm>
          <a:prstGeom prst="line">
            <a:avLst/>
          </a:prstGeom>
          <a:ln w="6350" cap="flat" cmpd="sng">
            <a:solidFill>
              <a:srgbClr val="FFFFFF"/>
            </a:solidFill>
            <a:prstDash val="solid"/>
          </a:ln>
        </p:spPr>
      </p:cxnSp>
      <p:cxnSp>
        <p:nvCxnSpPr>
          <p:cNvPr name="Connector 22" id="22"/>
          <p:cNvCxnSpPr/>
          <p:nvPr/>
        </p:nvCxnSpPr>
        <p:spPr>
          <a:xfrm flipV="true">
            <a:off x="9525065" y="4473404"/>
            <a:ext cx="1060725" cy="12619"/>
          </a:xfrm>
          <a:prstGeom prst="line">
            <a:avLst/>
          </a:prstGeom>
          <a:ln w="6350" cap="flat" cmpd="sng">
            <a:solidFill>
              <a:srgbClr val="FFFFFF"/>
            </a:solidFill>
            <a:prstDash val="solid"/>
          </a:ln>
        </p:spPr>
      </p:cxnSp>
      <p:cxnSp>
        <p:nvCxnSpPr>
          <p:cNvPr name="Connector 23" id="23"/>
          <p:cNvCxnSpPr/>
          <p:nvPr/>
        </p:nvCxnSpPr>
        <p:spPr>
          <a:xfrm flipV="true">
            <a:off x="6485643" y="1828772"/>
            <a:ext cx="1060725" cy="12619"/>
          </a:xfrm>
          <a:prstGeom prst="line">
            <a:avLst/>
          </a:prstGeom>
          <a:ln w="6350" cap="flat" cmpd="sng">
            <a:solidFill>
              <a:srgbClr val="FFFFFF"/>
            </a:solidFill>
            <a:prstDash val="solid"/>
          </a:ln>
        </p:spPr>
      </p:cxnSp>
      <p:cxnSp>
        <p:nvCxnSpPr>
          <p:cNvPr name="Connector 24" id="24"/>
          <p:cNvCxnSpPr/>
          <p:nvPr/>
        </p:nvCxnSpPr>
        <p:spPr>
          <a:xfrm flipV="true">
            <a:off x="9576332" y="1848929"/>
            <a:ext cx="1060725" cy="12619"/>
          </a:xfrm>
          <a:prstGeom prst="line">
            <a:avLst/>
          </a:prstGeom>
          <a:ln w="6350" cap="flat" cmpd="sng">
            <a:solidFill>
              <a:srgbClr val="FFFFFF"/>
            </a:solidFill>
            <a:prstDash val="solid"/>
          </a:ln>
        </p:spPr>
      </p:cxn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2F2F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1849031" y="1440077"/>
            <a:ext cx="2592340" cy="1857726"/>
          </a:xfrm>
        </p:spPr>
        <p:txBody>
          <a:bodyPr vert="horz" anchor="b" tIns="45720" lIns="91440" bIns="45720" rIns="91440">
            <a:no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b="true" i="false" sz="11500" baseline="0" u="none">
                <a:solidFill>
                  <a:srgbClr val="FFFFFF"/>
                </a:solidFill>
                <a:latin typeface="+mn-ea"/>
                <a:ea typeface="+mn-ea"/>
              </a:rPr>
              <a:t>01</a:t>
            </a:r>
          </a:p>
        </p:txBody>
      </p:sp>
      <p:sp>
        <p:nvSpPr>
          <p:cNvPr name="AutoShape 3" id="3"/>
          <p:cNvSpPr/>
          <p:nvPr>
            <p:ph type="body" idx="1"/>
          </p:nvPr>
        </p:nvSpPr>
        <p:spPr>
          <a:xfrm>
            <a:off x="2011218" y="3362633"/>
            <a:ext cx="4677176" cy="554960"/>
          </a:xfrm>
        </p:spPr>
        <p:txBody>
          <a:bodyPr vert="horz" anchor="t" tIns="45720" lIns="91440" bIns="45720" rIns="91440">
            <a:normAutofit/>
          </a:bodyPr>
          <a:p>
            <a:pPr algn="l" indent="0" marL="0">
              <a:lnSpc>
                <a:spcPct val="90000"/>
              </a:lnSpc>
              <a:spcBef>
                <a:spcPts val="1000"/>
              </a:spcBef>
            </a:pPr>
            <a:r>
              <a:rPr lang="zh-CN" b="true" i="false" sz="18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引言：大数据时代下的计算挑战</a:t>
            </a:r>
          </a:p>
        </p:txBody>
      </p:sp>
      <p:cxnSp>
        <p:nvCxnSpPr>
          <p:cNvPr name="Connector 4" id="4"/>
          <p:cNvCxnSpPr/>
          <p:nvPr/>
        </p:nvCxnSpPr>
        <p:spPr>
          <a:xfrm>
            <a:off x="2114437" y="4029968"/>
            <a:ext cx="535781" cy="0"/>
          </a:xfrm>
          <a:prstGeom prst="line">
            <a:avLst/>
          </a:prstGeom>
          <a:ln w="6350" cap="flat" cmpd="sng">
            <a:solidFill>
              <a:srgbClr val="FFFFFF"/>
            </a:solidFill>
            <a:prstDash val="solid"/>
          </a:ln>
        </p:spPr>
      </p:cxn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2F2F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688874" y="10239"/>
            <a:ext cx="10858500" cy="1028700"/>
          </a:xfrm>
          <a:prstGeom prst="rect">
            <a:avLst/>
          </a:prstGeom>
        </p:spPr>
        <p:txBody>
          <a:bodyPr vert="horz" anchor="b" tIns="45720" lIns="91440" bIns="45720" rIns="91440">
            <a:normAutofit/>
          </a:bodyPr>
          <a:p>
            <a:pPr algn="l" marL="0">
              <a:lnSpc>
                <a:spcPct val="90000"/>
              </a:lnSpc>
              <a:spcBef>
                <a:spcPct val="0"/>
              </a:spcBef>
            </a:pPr>
            <a:r>
              <a:rPr lang="zh-CN" b="true" i="false" sz="3200" baseline="0" u="none" altLang="en-US">
                <a:solidFill>
                  <a:srgbClr val="FFFFFF"/>
                </a:solidFill>
                <a:latin typeface="+mn-ea"/>
                <a:ea typeface="+mn-ea"/>
              </a:rPr>
              <a:t>大数据背景下的性能瓶颈</a:t>
            </a:r>
          </a:p>
        </p:txBody>
      </p:sp>
      <p:sp>
        <p:nvSpPr>
          <p:cNvPr name="AutoShape 3" id="3"/>
          <p:cNvSpPr/>
          <p:nvPr/>
        </p:nvSpPr>
        <p:spPr>
          <a:xfrm>
            <a:off x="0" y="4925598"/>
            <a:ext cx="12192000" cy="2209799"/>
          </a:xfrm>
          <a:prstGeom prst="rect">
            <a:avLst/>
          </a:prstGeom>
          <a:solidFill>
            <a:schemeClr val="accent1">
              <a:alpha val="50000"/>
            </a:schemeClr>
          </a:solidFill>
          <a:ln cap="flat" cmpd="sng">
            <a:prstDash val="solid"/>
          </a:ln>
        </p:spPr>
        <p:txBody>
          <a:bodyPr vert="horz" anchor="ctr" wrap="square" tIns="45720" lIns="91440" bIns="45720" rIns="91440">
            <a:noAutofit/>
          </a:bodyPr>
          <a:p>
            <a:pPr algn="ctr" marL="0">
              <a:lnSpc>
                <a:spcPct val="130000"/>
              </a:lnSpc>
            </a:pPr>
          </a:p>
        </p:txBody>
      </p:sp>
      <p:sp>
        <p:nvSpPr>
          <p:cNvPr name="AutoShape 4" id="4"/>
          <p:cNvSpPr/>
          <p:nvPr/>
        </p:nvSpPr>
        <p:spPr>
          <a:xfrm>
            <a:off x="1612825" y="4215486"/>
            <a:ext cx="1789612" cy="1789612"/>
          </a:xfrm>
          <a:prstGeom prst="ellipse">
            <a:avLst/>
          </a:prstGeom>
          <a:pattFill prst="pct5">
            <a:fgClr>
              <a:srgbClr val="E4E6EA"/>
            </a:fgClr>
            <a:bgClr>
              <a:srgbClr val="ADB5BF"/>
            </a:bgClr>
          </a:pattFill>
          <a:ln cap="flat" cmpd="sng">
            <a:prstDash val="solid"/>
          </a:ln>
        </p:spPr>
        <p:txBody>
          <a:bodyPr vert="horz" rot="0" anchor="t" wrap="squar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  <p:sp>
        <p:nvSpPr>
          <p:cNvPr name="AutoShape 5" id="5"/>
          <p:cNvSpPr/>
          <p:nvPr/>
        </p:nvSpPr>
        <p:spPr>
          <a:xfrm>
            <a:off x="1190650" y="1580152"/>
            <a:ext cx="2633963" cy="338554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45720" lIns="91440" bIns="45720" rIns="91440">
            <a:spAutoFit/>
          </a:bodyPr>
          <a:p>
            <a:pPr algn="ctr" marL="0"/>
            <a:r>
              <a:rPr lang="zh-CN" b="true" i="false" sz="1600" baseline="0" u="none" altLang="en-US">
                <a:solidFill>
                  <a:schemeClr val="accent1"/>
                </a:solidFill>
                <a:latin typeface="Arial"/>
                <a:ea typeface="Arial"/>
              </a:rPr>
              <a:t>数据爆炸式增长</a:t>
            </a:r>
          </a:p>
        </p:txBody>
      </p:sp>
      <p:sp>
        <p:nvSpPr>
          <p:cNvPr name="AutoShape 6" id="6"/>
          <p:cNvSpPr/>
          <p:nvPr/>
        </p:nvSpPr>
        <p:spPr>
          <a:xfrm>
            <a:off x="1190650" y="2185406"/>
            <a:ext cx="2633963" cy="698717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45720" lIns="91440" bIns="45720" rIns="91440">
            <a:spAutoFit/>
          </a:bodyPr>
          <a:p>
            <a:pPr algn="ctr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Arial"/>
                <a:ea typeface="Arial"/>
              </a:rPr>
              <a:t>数据量呈指数级增长，传统单线程计算难以满足需求。</a:t>
            </a:r>
          </a:p>
        </p:txBody>
      </p:sp>
      <p:sp>
        <p:nvSpPr>
          <p:cNvPr name="AutoShape 7" id="7"/>
          <p:cNvSpPr/>
          <p:nvPr/>
        </p:nvSpPr>
        <p:spPr>
          <a:xfrm>
            <a:off x="5201193" y="4215486"/>
            <a:ext cx="1789612" cy="1789612"/>
          </a:xfrm>
          <a:prstGeom prst="ellipse">
            <a:avLst/>
          </a:prstGeom>
          <a:pattFill prst="pct5">
            <a:fgClr>
              <a:srgbClr val="E4E6EA"/>
            </a:fgClr>
            <a:bgClr>
              <a:srgbClr val="ADB5BF"/>
            </a:bgClr>
          </a:pattFill>
          <a:ln cap="flat" cmpd="sng">
            <a:prstDash val="solid"/>
          </a:ln>
        </p:spPr>
        <p:txBody>
          <a:bodyPr vert="horz" rot="0" anchor="t" wrap="squar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  <p:sp>
        <p:nvSpPr>
          <p:cNvPr name="AutoShape 8" id="8"/>
          <p:cNvSpPr/>
          <p:nvPr/>
        </p:nvSpPr>
        <p:spPr>
          <a:xfrm>
            <a:off x="4779018" y="1580152"/>
            <a:ext cx="2633963" cy="338554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45720" lIns="91440" bIns="45720" rIns="91440">
            <a:spAutoFit/>
          </a:bodyPr>
          <a:p>
            <a:pPr algn="ctr" marL="0"/>
            <a:r>
              <a:rPr lang="zh-CN" b="true" i="false" sz="1600" baseline="0" u="none" altLang="en-US">
                <a:solidFill>
                  <a:schemeClr val="accent2"/>
                </a:solidFill>
                <a:latin typeface="Arial"/>
                <a:ea typeface="Arial"/>
              </a:rPr>
              <a:t>计算效率的重要性</a:t>
            </a:r>
          </a:p>
        </p:txBody>
      </p:sp>
      <p:sp>
        <p:nvSpPr>
          <p:cNvPr name="AutoShape 9" id="9"/>
          <p:cNvSpPr/>
          <p:nvPr/>
        </p:nvSpPr>
        <p:spPr>
          <a:xfrm>
            <a:off x="4779018" y="2185406"/>
            <a:ext cx="2633963" cy="698717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45720" lIns="91440" bIns="45720" rIns="91440">
            <a:spAutoFit/>
          </a:bodyPr>
          <a:p>
            <a:pPr algn="ctr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Arial"/>
                <a:ea typeface="Arial"/>
              </a:rPr>
              <a:t>提高计算效率，降低资源消耗，对企业至关重要。</a:t>
            </a:r>
          </a:p>
        </p:txBody>
      </p:sp>
      <p:sp>
        <p:nvSpPr>
          <p:cNvPr name="AutoShape 10" id="10"/>
          <p:cNvSpPr/>
          <p:nvPr/>
        </p:nvSpPr>
        <p:spPr>
          <a:xfrm>
            <a:off x="8789562" y="4215486"/>
            <a:ext cx="1789612" cy="1789612"/>
          </a:xfrm>
          <a:prstGeom prst="ellipse">
            <a:avLst/>
          </a:prstGeom>
          <a:pattFill prst="pct5">
            <a:fgClr>
              <a:srgbClr val="E4E6EA"/>
            </a:fgClr>
            <a:bgClr>
              <a:srgbClr val="ADB5BF"/>
            </a:bgClr>
          </a:pattFill>
          <a:ln cap="flat" cmpd="sng">
            <a:prstDash val="solid"/>
          </a:ln>
        </p:spPr>
        <p:txBody>
          <a:bodyPr vert="horz" rot="0" anchor="t" wrap="squar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  <p:sp>
        <p:nvSpPr>
          <p:cNvPr name="AutoShape 11" id="11"/>
          <p:cNvSpPr/>
          <p:nvPr/>
        </p:nvSpPr>
        <p:spPr>
          <a:xfrm>
            <a:off x="8367387" y="1580152"/>
            <a:ext cx="2633963" cy="338554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45720" lIns="91440" bIns="45720" rIns="91440">
            <a:spAutoFit/>
          </a:bodyPr>
          <a:p>
            <a:pPr algn="ctr" marL="0"/>
            <a:r>
              <a:rPr lang="zh-CN" b="true" i="false" sz="1600" baseline="0" u="none" altLang="en-US">
                <a:solidFill>
                  <a:schemeClr val="accent1"/>
                </a:solidFill>
                <a:latin typeface="Arial"/>
                <a:ea typeface="Arial"/>
              </a:rPr>
              <a:t>并行计算的必要性</a:t>
            </a:r>
          </a:p>
        </p:txBody>
      </p:sp>
      <p:sp>
        <p:nvSpPr>
          <p:cNvPr name="AutoShape 12" id="12"/>
          <p:cNvSpPr/>
          <p:nvPr/>
        </p:nvSpPr>
        <p:spPr>
          <a:xfrm>
            <a:off x="8367387" y="2185406"/>
            <a:ext cx="2633963" cy="1023357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45720" lIns="91440" bIns="45720" rIns="91440">
            <a:spAutoFit/>
          </a:bodyPr>
          <a:p>
            <a:pPr algn="ctr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Arial"/>
                <a:ea typeface="Arial"/>
              </a:rPr>
              <a:t>并行计算成为解决大数据计算瓶颈的关键技术。</a:t>
            </a:r>
          </a:p>
        </p:txBody>
      </p:sp>
      <p:sp>
        <p:nvSpPr>
          <p:cNvPr name="TextBox 13" id="13"/>
          <p:cNvSpPr txBox="true"/>
          <p:nvPr/>
        </p:nvSpPr>
        <p:spPr>
          <a:xfrm>
            <a:off x="2056733" y="4665337"/>
            <a:ext cx="785457" cy="889909"/>
          </a:xfrm>
          <a:prstGeom prst="rect">
            <a:avLst/>
          </a:prstGeom>
          <a:noFill/>
        </p:spPr>
        <p:txBody>
          <a:bodyPr anchor="t" rtlCol="false" vert="horz" wrap="none" tIns="45720" lIns="91440" bIns="45720" rIns="91440">
            <a:prstTxWarp prst="textPlain">
              <a:avLst/>
            </a:prstTxWarp>
            <a:spAutoFit/>
          </a:bodyPr>
          <a:lstStyle/>
          <a:p>
            <a:pPr algn="l" marL="0">
              <a:defRPr/>
            </a:pPr>
            <a:r>
              <a:rPr lang="en-US" b="true" i="false" spc="100" baseline="0" u="none">
                <a:solidFill>
                  <a:srgbClr val="2F2F2F"/>
                </a:solidFill>
                <a:latin typeface="Arial"/>
                <a:ea typeface="Arial"/>
              </a:rPr>
              <a:t>01</a:t>
            </a:r>
            <a:endParaRPr lang="en-US" sz="1100"/>
          </a:p>
        </p:txBody>
      </p:sp>
      <p:sp>
        <p:nvSpPr>
          <p:cNvPr name="TextBox 14" id="14"/>
          <p:cNvSpPr txBox="true"/>
          <p:nvPr/>
        </p:nvSpPr>
        <p:spPr>
          <a:xfrm>
            <a:off x="5702476" y="4665337"/>
            <a:ext cx="785457" cy="889909"/>
          </a:xfrm>
          <a:prstGeom prst="rect">
            <a:avLst/>
          </a:prstGeom>
          <a:noFill/>
        </p:spPr>
        <p:txBody>
          <a:bodyPr anchor="t" rtlCol="false" vert="horz" wrap="none" tIns="45720" lIns="91440" bIns="45720" rIns="91440">
            <a:prstTxWarp prst="textPlain">
              <a:avLst/>
            </a:prstTxWarp>
            <a:spAutoFit/>
          </a:bodyPr>
          <a:lstStyle/>
          <a:p>
            <a:pPr algn="l" marL="0">
              <a:defRPr/>
            </a:pPr>
            <a:r>
              <a:rPr lang="en-US" b="true" i="false" spc="100" baseline="0" u="none">
                <a:solidFill>
                  <a:srgbClr val="2F2F2F"/>
                </a:solidFill>
                <a:latin typeface="Arial"/>
                <a:ea typeface="Arial"/>
              </a:rPr>
              <a:t>02</a:t>
            </a:r>
            <a:endParaRPr lang="en-US" sz="1100"/>
          </a:p>
        </p:txBody>
      </p:sp>
      <p:sp>
        <p:nvSpPr>
          <p:cNvPr name="TextBox 15" id="15"/>
          <p:cNvSpPr txBox="true"/>
          <p:nvPr/>
        </p:nvSpPr>
        <p:spPr>
          <a:xfrm>
            <a:off x="9291639" y="4608187"/>
            <a:ext cx="785457" cy="889909"/>
          </a:xfrm>
          <a:prstGeom prst="rect">
            <a:avLst/>
          </a:prstGeom>
          <a:noFill/>
        </p:spPr>
        <p:txBody>
          <a:bodyPr anchor="t" rtlCol="false" vert="horz" wrap="none" tIns="45720" lIns="91440" bIns="45720" rIns="91440">
            <a:prstTxWarp prst="textPlain">
              <a:avLst/>
            </a:prstTxWarp>
            <a:spAutoFit/>
          </a:bodyPr>
          <a:lstStyle/>
          <a:p>
            <a:pPr algn="l" marL="0">
              <a:defRPr/>
            </a:pPr>
            <a:r>
              <a:rPr lang="en-US" b="true" i="false" spc="100" baseline="0" u="none">
                <a:solidFill>
                  <a:srgbClr val="2F2F2F"/>
                </a:solidFill>
                <a:latin typeface="Arial"/>
                <a:ea typeface="Arial"/>
              </a:rPr>
              <a:t>03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2F2F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name="Connector 2" id="2"/>
          <p:cNvCxnSpPr/>
          <p:nvPr/>
        </p:nvCxnSpPr>
        <p:spPr>
          <a:xfrm flipV="true">
            <a:off x="5265194" y="2688372"/>
            <a:ext cx="374067" cy="395302"/>
          </a:xfrm>
          <a:prstGeom prst="line">
            <a:avLst/>
          </a:prstGeom>
          <a:ln w="25400" cap="flat" cmpd="sng">
            <a:solidFill>
              <a:srgbClr val="FFFFFF">
                <a:alpha val="20000"/>
                <a:lumMod val="50000"/>
                <a:lumOff val="50000"/>
              </a:srgbClr>
            </a:solidFill>
            <a:prstDash val="solid"/>
          </a:ln>
        </p:spPr>
      </p:cxnSp>
      <p:sp>
        <p:nvSpPr>
          <p:cNvPr name="TextBox 3" id="3"/>
          <p:cNvSpPr txBox="true"/>
          <p:nvPr/>
        </p:nvSpPr>
        <p:spPr>
          <a:xfrm>
            <a:off x="2470430" y="3365091"/>
            <a:ext cx="2934871" cy="903389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30000"/>
              </a:lnSpc>
              <a:defRPr/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+mn-ea"/>
                <a:ea typeface="+mn-ea"/>
              </a:rPr>
              <a:t>大数组求和是并行计算的典型应用场景，易于理解和实现。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2470430" y="2599850"/>
            <a:ext cx="2809586" cy="340735"/>
          </a:xfrm>
          <a:prstGeom prst="rect">
            <a:avLst/>
          </a:prstGeom>
          <a:noFill/>
        </p:spPr>
        <p:txBody>
          <a:bodyPr anchor="b" rtlCol="false" vert="horz" wrap="square" tIns="46800" lIns="90000" bIns="46800" rIns="90000"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rgbClr val="FFFFFF"/>
                </a:solidFill>
                <a:latin typeface="+mn-ea"/>
                <a:ea typeface="+mn-ea"/>
              </a:rPr>
              <a:t>简化问题模型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>
            <a:off x="2539102" y="3082087"/>
            <a:ext cx="2740914" cy="0"/>
          </a:xfrm>
          <a:prstGeom prst="line">
            <a:avLst/>
          </a:prstGeom>
          <a:ln w="25400" cap="flat" cmpd="sng">
            <a:solidFill>
              <a:srgbClr val="FFFFFF"/>
            </a:solidFill>
            <a:prstDash val="solid"/>
          </a:ln>
        </p:spPr>
      </p:cxnSp>
      <p:cxnSp>
        <p:nvCxnSpPr>
          <p:cNvPr name="Connector 6" id="6"/>
          <p:cNvCxnSpPr/>
          <p:nvPr/>
        </p:nvCxnSpPr>
        <p:spPr>
          <a:xfrm flipV="true">
            <a:off x="8350949" y="2294476"/>
            <a:ext cx="374067" cy="395302"/>
          </a:xfrm>
          <a:prstGeom prst="line">
            <a:avLst/>
          </a:prstGeom>
          <a:ln w="25400" cap="flat" cmpd="sng">
            <a:solidFill>
              <a:srgbClr val="FFFFFF">
                <a:alpha val="20000"/>
                <a:lumMod val="50000"/>
                <a:lumOff val="50000"/>
              </a:srgbClr>
            </a:solidFill>
            <a:prstDash val="solid"/>
          </a:ln>
        </p:spPr>
      </p:cxnSp>
      <p:sp>
        <p:nvSpPr>
          <p:cNvPr name="TextBox 7" id="7"/>
          <p:cNvSpPr txBox="true"/>
          <p:nvPr/>
        </p:nvSpPr>
        <p:spPr>
          <a:xfrm>
            <a:off x="5556184" y="2971195"/>
            <a:ext cx="2934871" cy="903389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30000"/>
              </a:lnSpc>
              <a:defRPr/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+mn-ea"/>
                <a:ea typeface="+mn-ea"/>
              </a:rPr>
              <a:t>对求和算法的优化，可以推广到其他更复杂的并行计算任务。</a:t>
            </a:r>
            <a:endParaRPr lang="en-US" sz="1100"/>
          </a:p>
        </p:txBody>
      </p:sp>
      <p:sp>
        <p:nvSpPr>
          <p:cNvPr name="TextBox 8" id="8"/>
          <p:cNvSpPr txBox="true"/>
          <p:nvPr/>
        </p:nvSpPr>
        <p:spPr>
          <a:xfrm>
            <a:off x="5556185" y="2205954"/>
            <a:ext cx="2809587" cy="340735"/>
          </a:xfrm>
          <a:prstGeom prst="rect">
            <a:avLst/>
          </a:prstGeom>
          <a:noFill/>
        </p:spPr>
        <p:txBody>
          <a:bodyPr anchor="b" rtlCol="false" vert="horz" wrap="square" tIns="46800" lIns="90000" bIns="46800" rIns="90000"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rgbClr val="FFFFFF"/>
                </a:solidFill>
                <a:latin typeface="+mn-ea"/>
                <a:ea typeface="+mn-ea"/>
              </a:rPr>
              <a:t>性能优化基础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>
            <a:off x="5624857" y="2688191"/>
            <a:ext cx="2740914" cy="0"/>
          </a:xfrm>
          <a:prstGeom prst="line">
            <a:avLst/>
          </a:prstGeom>
          <a:ln w="25400" cap="flat" cmpd="sng">
            <a:solidFill>
              <a:srgbClr val="FFFFFF"/>
            </a:solidFill>
            <a:prstDash val="solid"/>
          </a:ln>
        </p:spPr>
      </p:cxnSp>
      <p:sp>
        <p:nvSpPr>
          <p:cNvPr name="TextBox 10" id="10"/>
          <p:cNvSpPr txBox="true"/>
          <p:nvPr/>
        </p:nvSpPr>
        <p:spPr>
          <a:xfrm>
            <a:off x="8652443" y="2582049"/>
            <a:ext cx="2934871" cy="903389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30000"/>
              </a:lnSpc>
              <a:defRPr/>
            </a:pPr>
            <a:r>
              <a:rPr lang="en-US" b="false" i="false" sz="1400" baseline="0" u="none">
                <a:solidFill>
                  <a:srgbClr val="FFFFFF"/>
                </a:solidFill>
                <a:latin typeface="+mn-ea"/>
                <a:ea typeface="+mn-ea"/>
              </a:rPr>
              <a:t>#####</a:t>
            </a:r>
            <a:endParaRPr lang="en-US" sz="1100"/>
          </a:p>
        </p:txBody>
      </p:sp>
      <p:sp>
        <p:nvSpPr>
          <p:cNvPr name="TextBox 11" id="11"/>
          <p:cNvSpPr txBox="true"/>
          <p:nvPr/>
        </p:nvSpPr>
        <p:spPr>
          <a:xfrm>
            <a:off x="8652444" y="1816808"/>
            <a:ext cx="2809587" cy="340735"/>
          </a:xfrm>
          <a:prstGeom prst="rect">
            <a:avLst/>
          </a:prstGeom>
          <a:noFill/>
        </p:spPr>
        <p:txBody>
          <a:bodyPr anchor="b" rtlCol="false" vert="horz" wrap="square" tIns="46800" lIns="90000" bIns="46800" rIns="90000">
            <a:spAutoFit/>
          </a:bodyPr>
          <a:lstStyle/>
          <a:p>
            <a:pPr algn="l" marL="0">
              <a:defRPr/>
            </a:pPr>
            <a:r>
              <a:rPr lang="en-US" b="true" i="false" sz="1600" baseline="0" u="none">
                <a:solidFill>
                  <a:srgbClr val="FFFFFF"/>
                </a:solidFill>
                <a:latin typeface="+mn-ea"/>
                <a:ea typeface="+mn-ea"/>
              </a:rPr>
              <a:t> 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>
            <a:off x="8721116" y="2299045"/>
            <a:ext cx="2740914" cy="0"/>
          </a:xfrm>
          <a:prstGeom prst="line">
            <a:avLst/>
          </a:prstGeom>
          <a:ln w="25400" cap="flat" cmpd="sng">
            <a:solidFill>
              <a:srgbClr val="FFFFFF"/>
            </a:solidFill>
            <a:prstDash val="solid"/>
          </a:ln>
        </p:spPr>
      </p:cxnSp>
      <p:sp>
        <p:nvSpPr>
          <p:cNvPr name="AutoShape 13" id="13"/>
          <p:cNvSpPr/>
          <p:nvPr/>
        </p:nvSpPr>
        <p:spPr>
          <a:xfrm flipV="true">
            <a:off x="688874" y="3765555"/>
            <a:ext cx="1111250" cy="45719"/>
          </a:xfrm>
          <a:prstGeom prst="rect">
            <a:avLst/>
          </a:prstGeom>
          <a:solidFill>
            <a:schemeClr val="accent1"/>
          </a:solidFill>
          <a:ln cap="flat" cmpd="sng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14" id="14"/>
          <p:cNvSpPr/>
          <p:nvPr/>
        </p:nvSpPr>
        <p:spPr>
          <a:xfrm>
            <a:off x="688874" y="10239"/>
            <a:ext cx="10858500" cy="1028700"/>
          </a:xfrm>
          <a:prstGeom prst="rect">
            <a:avLst/>
          </a:prstGeom>
        </p:spPr>
        <p:txBody>
          <a:bodyPr vert="horz" anchor="b" tIns="45720" lIns="91440" bIns="45720" rIns="91440">
            <a:normAutofit/>
          </a:bodyPr>
          <a:p>
            <a:pPr algn="l" marL="0">
              <a:lnSpc>
                <a:spcPct val="90000"/>
              </a:lnSpc>
              <a:spcBef>
                <a:spcPct val="0"/>
              </a:spcBef>
            </a:pPr>
            <a:r>
              <a:rPr lang="zh-CN" b="true" i="false" sz="3200" baseline="0" u="none" altLang="en-US">
                <a:solidFill>
                  <a:srgbClr val="FFFFFF"/>
                </a:solidFill>
                <a:latin typeface="+mn-ea"/>
                <a:ea typeface="+mn-ea"/>
              </a:rPr>
              <a:t>并行求和的意义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2F2F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1849031" y="1440077"/>
            <a:ext cx="2592340" cy="1857726"/>
          </a:xfrm>
        </p:spPr>
        <p:txBody>
          <a:bodyPr vert="horz" anchor="b" tIns="45720" lIns="91440" bIns="45720" rIns="91440">
            <a:no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b="true" i="false" sz="11500" baseline="0" u="none">
                <a:solidFill>
                  <a:srgbClr val="FFFFFF"/>
                </a:solidFill>
                <a:latin typeface="+mn-ea"/>
                <a:ea typeface="+mn-ea"/>
              </a:rPr>
              <a:t>02</a:t>
            </a:r>
          </a:p>
        </p:txBody>
      </p:sp>
      <p:sp>
        <p:nvSpPr>
          <p:cNvPr name="AutoShape 3" id="3"/>
          <p:cNvSpPr/>
          <p:nvPr>
            <p:ph type="body" idx="1"/>
          </p:nvPr>
        </p:nvSpPr>
        <p:spPr>
          <a:xfrm>
            <a:off x="2011218" y="3362633"/>
            <a:ext cx="4677176" cy="554960"/>
          </a:xfrm>
        </p:spPr>
        <p:txBody>
          <a:bodyPr vert="horz" anchor="t" tIns="45720" lIns="91440" bIns="45720" rIns="91440">
            <a:normAutofit/>
          </a:bodyPr>
          <a:p>
            <a:pPr algn="l" indent="0" marL="0">
              <a:lnSpc>
                <a:spcPct val="90000"/>
              </a:lnSpc>
              <a:spcBef>
                <a:spcPts val="1000"/>
              </a:spcBef>
            </a:pPr>
            <a:r>
              <a:rPr lang="zh-CN" b="true" i="false" sz="18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单线程求和的性能分析</a:t>
            </a:r>
          </a:p>
        </p:txBody>
      </p:sp>
      <p:cxnSp>
        <p:nvCxnSpPr>
          <p:cNvPr name="Connector 4" id="4"/>
          <p:cNvCxnSpPr/>
          <p:nvPr/>
        </p:nvCxnSpPr>
        <p:spPr>
          <a:xfrm>
            <a:off x="2114437" y="4029968"/>
            <a:ext cx="535781" cy="0"/>
          </a:xfrm>
          <a:prstGeom prst="line">
            <a:avLst/>
          </a:prstGeom>
          <a:ln w="6350" cap="flat" cmpd="sng">
            <a:solidFill>
              <a:srgbClr val="FFFFFF"/>
            </a:solidFill>
            <a:prstDash val="solid"/>
          </a:ln>
        </p:spPr>
      </p:cxn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F2F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688874" y="10239"/>
            <a:ext cx="10858500" cy="1028700"/>
          </a:xfrm>
          <a:prstGeom prst="rect">
            <a:avLst/>
          </a:prstGeom>
        </p:spPr>
        <p:txBody>
          <a:bodyPr vert="horz" anchor="b" tIns="45720" lIns="91440" bIns="45720" rIns="91440">
            <a:normAutofit/>
          </a:bodyPr>
          <a:p>
            <a:pPr algn="l" marL="0">
              <a:lnSpc>
                <a:spcPct val="90000"/>
              </a:lnSpc>
              <a:spcBef>
                <a:spcPct val="0"/>
              </a:spcBef>
            </a:pPr>
            <a:r>
              <a:rPr lang="zh-CN" b="true" i="false" sz="3200" baseline="0" u="none" altLang="en-US">
                <a:solidFill>
                  <a:srgbClr val="FFFFFF"/>
                </a:solidFill>
                <a:latin typeface="+mn-ea"/>
                <a:ea typeface="+mn-ea"/>
              </a:rPr>
              <a:t>单线程求和算法</a:t>
            </a:r>
          </a:p>
        </p:txBody>
      </p:sp>
      <p:sp>
        <p:nvSpPr>
          <p:cNvPr name="AutoShape 3" id="3"/>
          <p:cNvSpPr/>
          <p:nvPr/>
        </p:nvSpPr>
        <p:spPr>
          <a:xfrm>
            <a:off x="666750" y="1317283"/>
            <a:ext cx="10858500" cy="1595007"/>
          </a:xfrm>
          <a:prstGeom prst="roundRect">
            <a:avLst>
              <a:gd name="adj" fmla="val 7840"/>
            </a:avLst>
          </a:prstGeom>
          <a:blipFill>
            <a:blip r:embed="rId2"/>
            <a:stretch>
              <a:fillRect t="-464254" l="0" b="-456917" r="0"/>
            </a:stretch>
          </a:blipFill>
          <a:ln cap="flat" cmpd="sng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4" id="4"/>
          <p:cNvSpPr/>
          <p:nvPr/>
        </p:nvSpPr>
        <p:spPr>
          <a:xfrm>
            <a:off x="4828673" y="2601062"/>
            <a:ext cx="2534653" cy="3634637"/>
          </a:xfrm>
          <a:prstGeom prst="rect">
            <a:avLst/>
          </a:prstGeom>
          <a:solidFill>
            <a:srgbClr val="F0F0F0"/>
          </a:solidFill>
          <a:ln w="12700" cap="flat" cmpd="sng">
            <a:solidFill>
              <a:srgbClr val="2F2F2F"/>
            </a:solidFill>
            <a:prstDash val="solid"/>
          </a:ln>
        </p:spPr>
        <p:txBody>
          <a:bodyPr vert="horz" anchor="ctr" tIns="45720" lIns="167040" bIns="45720" rIns="170640">
            <a:normAutofit/>
          </a:bodyPr>
          <a:p>
            <a:pPr algn="ctr" marL="0">
              <a:lnSpc>
                <a:spcPct val="130000"/>
              </a:lnSpc>
            </a:pPr>
          </a:p>
          <a:p>
            <a:pPr algn="ctr" marL="0">
              <a:lnSpc>
                <a:spcPct val="130000"/>
              </a:lnSpc>
            </a:pPr>
          </a:p>
          <a:p>
            <a:pPr algn="ctr" marL="0">
              <a:lnSpc>
                <a:spcPct val="130000"/>
              </a:lnSpc>
            </a:pPr>
          </a:p>
          <a:p>
            <a:pPr algn="ctr" marL="0">
              <a:lnSpc>
                <a:spcPct val="130000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>
            <a:off x="5660623" y="2677264"/>
            <a:ext cx="870752" cy="830997"/>
          </a:xfrm>
          <a:prstGeom prst="rect">
            <a:avLst/>
          </a:prstGeom>
          <a:noFill/>
        </p:spPr>
        <p:txBody>
          <a:bodyPr anchor="ctr" rtlCol="false" vert="horz" wrap="none" tIns="45720" lIns="91440" bIns="45720" rIns="91440">
            <a:spAutoFit/>
          </a:bodyPr>
          <a:lstStyle/>
          <a:p>
            <a:pPr algn="ctr" marL="0">
              <a:defRPr/>
            </a:pPr>
            <a:r>
              <a:rPr lang="en-US" b="true" i="false" sz="4800" baseline="0" u="none">
                <a:solidFill>
                  <a:srgbClr val="2F2F2F"/>
                </a:solidFill>
                <a:latin typeface="Arial"/>
                <a:ea typeface="Arial"/>
              </a:rPr>
              <a:t>02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>
            <a:off x="8031413" y="2912290"/>
            <a:ext cx="2534653" cy="3323410"/>
          </a:xfrm>
          <a:prstGeom prst="rect">
            <a:avLst/>
          </a:prstGeom>
          <a:solidFill>
            <a:schemeClr val="accent1">
              <a:alpha val="30000"/>
            </a:schemeClr>
          </a:solidFill>
          <a:ln cap="flat" cmpd="sng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>
              <a:lnSpc>
                <a:spcPct val="130000"/>
              </a:lnSpc>
            </a:pPr>
          </a:p>
          <a:p>
            <a:pPr algn="ctr" marL="0">
              <a:lnSpc>
                <a:spcPct val="130000"/>
              </a:lnSpc>
            </a:pPr>
          </a:p>
          <a:p>
            <a:pPr algn="ctr" marL="0">
              <a:lnSpc>
                <a:spcPct val="130000"/>
              </a:lnSpc>
            </a:pPr>
          </a:p>
          <a:p>
            <a:pPr algn="ctr" marL="0">
              <a:lnSpc>
                <a:spcPct val="13000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>
            <a:off x="8829941" y="2912290"/>
            <a:ext cx="870752" cy="830997"/>
          </a:xfrm>
          <a:prstGeom prst="rect">
            <a:avLst/>
          </a:prstGeom>
          <a:noFill/>
        </p:spPr>
        <p:txBody>
          <a:bodyPr anchor="ctr" rtlCol="false" vert="horz" wrap="none" tIns="45720" lIns="91440" bIns="45720" rIns="91440">
            <a:spAutoFit/>
          </a:bodyPr>
          <a:lstStyle/>
          <a:p>
            <a:pPr algn="ctr" marL="0">
              <a:defRPr/>
            </a:pPr>
            <a:r>
              <a:rPr lang="en-US" b="true" i="false" sz="4800" baseline="0" u="none">
                <a:solidFill>
                  <a:srgbClr val="FFFFFF"/>
                </a:solidFill>
                <a:latin typeface="Arial"/>
                <a:ea typeface="Arial"/>
              </a:rPr>
              <a:t>03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>
            <a:off x="1642644" y="2912290"/>
            <a:ext cx="2534653" cy="3323410"/>
          </a:xfrm>
          <a:prstGeom prst="rect">
            <a:avLst/>
          </a:prstGeom>
          <a:solidFill>
            <a:schemeClr val="accent1">
              <a:alpha val="30000"/>
            </a:schemeClr>
          </a:solidFill>
          <a:ln cap="flat" cmpd="sng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>
              <a:lnSpc>
                <a:spcPct val="130000"/>
              </a:lnSpc>
            </a:pPr>
          </a:p>
          <a:p>
            <a:pPr algn="ctr" marL="0">
              <a:lnSpc>
                <a:spcPct val="130000"/>
              </a:lnSpc>
            </a:pPr>
          </a:p>
          <a:p>
            <a:pPr algn="ctr" marL="0">
              <a:lnSpc>
                <a:spcPct val="130000"/>
              </a:lnSpc>
            </a:pPr>
          </a:p>
          <a:p>
            <a:pPr algn="ctr" marL="0">
              <a:lnSpc>
                <a:spcPct val="13000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>
            <a:off x="2474594" y="2912290"/>
            <a:ext cx="870751" cy="830997"/>
          </a:xfrm>
          <a:prstGeom prst="rect">
            <a:avLst/>
          </a:prstGeom>
          <a:noFill/>
        </p:spPr>
        <p:txBody>
          <a:bodyPr anchor="ctr" rtlCol="false" vert="horz" wrap="none" tIns="45720" lIns="91440" bIns="45720" rIns="91440">
            <a:spAutoFit/>
          </a:bodyPr>
          <a:lstStyle/>
          <a:p>
            <a:pPr algn="ctr" marL="0">
              <a:defRPr/>
            </a:pPr>
            <a:r>
              <a:rPr lang="en-US" b="true" i="false" sz="4800" baseline="0" u="none">
                <a:solidFill>
                  <a:srgbClr val="FFFFFF"/>
                </a:solidFill>
                <a:latin typeface="Arial"/>
                <a:ea typeface="Arial"/>
              </a:rPr>
              <a:t>01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>
            <a:off x="1642644" y="3646280"/>
            <a:ext cx="2493865" cy="338554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45720" lIns="91440" bIns="45720" rIns="91440">
            <a:spAutoFit/>
          </a:bodyPr>
          <a:p>
            <a:pPr algn="ctr" marL="0"/>
            <a:r>
              <a:rPr lang="zh-CN" b="true" i="false" sz="1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基本原理</a:t>
            </a:r>
          </a:p>
        </p:txBody>
      </p:sp>
      <p:sp>
        <p:nvSpPr>
          <p:cNvPr name="AutoShape 11" id="11"/>
          <p:cNvSpPr/>
          <p:nvPr/>
        </p:nvSpPr>
        <p:spPr>
          <a:xfrm>
            <a:off x="1642644" y="4311356"/>
            <a:ext cx="2492024" cy="1185324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30000"/>
              </a:lnSpc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+mn-ea"/>
                <a:ea typeface="+mn-ea"/>
              </a:rPr>
              <a:t>顺序遍历大数组，累加每个元素的值。</a:t>
            </a:r>
          </a:p>
        </p:txBody>
      </p:sp>
      <p:sp>
        <p:nvSpPr>
          <p:cNvPr name="AutoShape 12" id="12"/>
          <p:cNvSpPr/>
          <p:nvPr/>
        </p:nvSpPr>
        <p:spPr>
          <a:xfrm>
            <a:off x="4822619" y="3286380"/>
            <a:ext cx="2493865" cy="338554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45720" lIns="91440" bIns="45720" rIns="91440">
            <a:spAutoFit/>
          </a:bodyPr>
          <a:p>
            <a:pPr algn="ctr" marL="0"/>
            <a:r>
              <a:rPr lang="zh-CN" b="true" i="false" sz="16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算法复杂度</a:t>
            </a:r>
          </a:p>
        </p:txBody>
      </p:sp>
      <p:sp>
        <p:nvSpPr>
          <p:cNvPr name="AutoShape 13" id="13"/>
          <p:cNvSpPr/>
          <p:nvPr/>
        </p:nvSpPr>
        <p:spPr>
          <a:xfrm>
            <a:off x="4822619" y="3951456"/>
            <a:ext cx="2492024" cy="1185324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30000"/>
              </a:lnSpc>
            </a:pPr>
            <a:r>
              <a:rPr lang="zh-CN" b="false" i="false" sz="1400" baseline="0" u="none" altLang="en-US">
                <a:solidFill>
                  <a:srgbClr val="2F2F2F"/>
                </a:solidFill>
                <a:latin typeface="+mn-ea"/>
                <a:ea typeface="+mn-ea"/>
              </a:rPr>
              <a:t>时间复杂度为O(n)，n为数组大小。</a:t>
            </a:r>
          </a:p>
        </p:txBody>
      </p:sp>
      <p:sp>
        <p:nvSpPr>
          <p:cNvPr name="AutoShape 14" id="14"/>
          <p:cNvSpPr/>
          <p:nvPr/>
        </p:nvSpPr>
        <p:spPr>
          <a:xfrm>
            <a:off x="8049538" y="3663698"/>
            <a:ext cx="2493865" cy="338554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45720" lIns="91440" bIns="45720" rIns="91440">
            <a:spAutoFit/>
          </a:bodyPr>
          <a:p>
            <a:pPr algn="ctr" marL="0"/>
            <a:r>
              <a:rPr lang="zh-CN" b="true" i="false" sz="1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性能瓶颈</a:t>
            </a:r>
          </a:p>
        </p:txBody>
      </p:sp>
      <p:sp>
        <p:nvSpPr>
          <p:cNvPr name="AutoShape 15" id="15"/>
          <p:cNvSpPr/>
          <p:nvPr/>
        </p:nvSpPr>
        <p:spPr>
          <a:xfrm>
            <a:off x="8049538" y="4328774"/>
            <a:ext cx="2492024" cy="1185324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30000"/>
              </a:lnSpc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+mn-ea"/>
                <a:ea typeface="+mn-ea"/>
              </a:rPr>
              <a:t>无法充分利用多核CPU，计算速度受限于单核性能。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2F2F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688874" y="10239"/>
            <a:ext cx="10858500" cy="1028700"/>
          </a:xfrm>
          <a:prstGeom prst="rect">
            <a:avLst/>
          </a:prstGeom>
        </p:spPr>
        <p:txBody>
          <a:bodyPr vert="horz" anchor="b" tIns="45720" lIns="91440" bIns="45720" rIns="91440">
            <a:normAutofit/>
          </a:bodyPr>
          <a:p>
            <a:pPr algn="l" marL="0">
              <a:lnSpc>
                <a:spcPct val="90000"/>
              </a:lnSpc>
              <a:spcBef>
                <a:spcPct val="0"/>
              </a:spcBef>
            </a:pPr>
            <a:r>
              <a:rPr lang="zh-CN" b="true" i="false" sz="3200" baseline="0" u="none" altLang="en-US">
                <a:solidFill>
                  <a:srgbClr val="FFFFFF"/>
                </a:solidFill>
                <a:latin typeface="+mn-ea"/>
                <a:ea typeface="+mn-ea"/>
              </a:rPr>
              <a:t>性能测试与分析</a:t>
            </a:r>
          </a:p>
        </p:txBody>
      </p:sp>
      <p:sp>
        <p:nvSpPr>
          <p:cNvPr name="Freeform 3" id="3"/>
          <p:cNvSpPr/>
          <p:nvPr/>
        </p:nvSpPr>
        <p:spPr>
          <a:xfrm rot="5400000">
            <a:off x="10781188" y="3971085"/>
            <a:ext cx="1471772" cy="1471772"/>
          </a:xfrm>
          <a:custGeom>
            <a:avLst/>
            <a:gdLst/>
            <a:ahLst/>
            <a:cxnLst/>
            <a:rect r="r" b="b" t="t" l="l"/>
            <a:pathLst>
              <a:path w="2599815" h="2599815" stroke="true" fill="norm" extrusionOk="true">
                <a:moveTo>
                  <a:pt x="0" y="0"/>
                </a:moveTo>
                <a:lnTo>
                  <a:pt x="1299908" y="0"/>
                </a:lnTo>
                <a:cubicBezTo>
                  <a:pt x="1299908" y="673049"/>
                  <a:pt x="1811422" y="1226629"/>
                  <a:pt x="2466908" y="1293197"/>
                </a:cubicBezTo>
                <a:lnTo>
                  <a:pt x="2599815" y="1299908"/>
                </a:lnTo>
                <a:lnTo>
                  <a:pt x="2599815" y="2599815"/>
                </a:lnTo>
                <a:cubicBezTo>
                  <a:pt x="1163977" y="2599815"/>
                  <a:pt x="0" y="1435838"/>
                  <a:pt x="0" y="0"/>
                </a:cubicBezTo>
                <a:close/>
              </a:path>
            </a:pathLst>
          </a:custGeom>
          <a:solidFill>
            <a:srgbClr val="FFFFFF">
              <a:alpha val="4000"/>
              <a:lumMod val="50000"/>
              <a:lumOff val="50000"/>
            </a:srgbClr>
          </a:solidFill>
          <a:ln cap="flat" cmpd="sng">
            <a:prstDash val="solid"/>
          </a:ln>
        </p:spPr>
        <p:txBody>
          <a:bodyPr vert="horz" rot="0" anchor="ctr" wrap="squar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  <p:sp>
        <p:nvSpPr>
          <p:cNvPr name="AutoShape 4" id="4"/>
          <p:cNvSpPr/>
          <p:nvPr/>
        </p:nvSpPr>
        <p:spPr>
          <a:xfrm>
            <a:off x="4859675" y="1857622"/>
            <a:ext cx="410200" cy="2665367"/>
          </a:xfrm>
          <a:prstGeom prst="rect">
            <a:avLst/>
          </a:prstGeom>
          <a:solidFill>
            <a:schemeClr val="accent5"/>
          </a:solidFill>
          <a:ln cap="rnd" cmpd="sng">
            <a:prstDash val="solid"/>
          </a:ln>
          <a:effectLst>
            <a:outerShdw algn="ctr" blurRad="254000" dist="127000" rotWithShape="false">
              <a:schemeClr val="accent5">
                <a:alpha val="32000"/>
              </a:schemeClr>
            </a:outerShdw>
          </a:effectLst>
        </p:spPr>
        <p:txBody>
          <a:bodyPr vert="horz" rot="0" anchor="ctr" wrap="square" tIns="45720" lIns="91440" bIns="45720" rIns="91440">
            <a:prstTxWarp prst="textNoShape">
              <a:avLst/>
            </a:prstTxWarp>
            <a:normAutofit/>
          </a:bodyPr>
          <a:p>
            <a:pPr algn="ctr" marL="0"/>
          </a:p>
        </p:txBody>
      </p:sp>
      <p:sp>
        <p:nvSpPr>
          <p:cNvPr name="AutoShape 5" id="5"/>
          <p:cNvSpPr/>
          <p:nvPr/>
        </p:nvSpPr>
        <p:spPr>
          <a:xfrm>
            <a:off x="8639215" y="1863971"/>
            <a:ext cx="410200" cy="2665367"/>
          </a:xfrm>
          <a:prstGeom prst="rect">
            <a:avLst/>
          </a:prstGeom>
          <a:solidFill>
            <a:schemeClr val="accent4"/>
          </a:solidFill>
          <a:ln cap="rnd" cmpd="sng">
            <a:prstDash val="solid"/>
          </a:ln>
          <a:effectLst>
            <a:outerShdw algn="ctr" blurRad="254000" dist="127000" rotWithShape="false">
              <a:schemeClr val="accent4">
                <a:alpha val="20000"/>
              </a:schemeClr>
            </a:outerShdw>
          </a:effectLst>
        </p:spPr>
        <p:txBody>
          <a:bodyPr vert="horz" rot="0" anchor="ctr" wrap="square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6" id="6"/>
          <p:cNvSpPr/>
          <p:nvPr/>
        </p:nvSpPr>
        <p:spPr>
          <a:xfrm>
            <a:off x="1080135" y="1863089"/>
            <a:ext cx="410200" cy="2665368"/>
          </a:xfrm>
          <a:prstGeom prst="rect">
            <a:avLst/>
          </a:prstGeom>
          <a:solidFill>
            <a:schemeClr val="accent3"/>
          </a:solidFill>
          <a:ln cap="rnd" cmpd="sng">
            <a:prstDash val="solid"/>
          </a:ln>
          <a:effectLst>
            <a:outerShdw algn="ctr" blurRad="254000" dist="127000" rotWithShape="false">
              <a:schemeClr val="accent3">
                <a:alpha val="32000"/>
              </a:schemeClr>
            </a:outerShdw>
          </a:effectLst>
        </p:spPr>
        <p:txBody>
          <a:bodyPr vert="horz" rot="0" anchor="ctr" wrap="square" tIns="45720" lIns="91440" bIns="45720" rIns="91440">
            <a:prstTxWarp prst="textNoShape">
              <a:avLst/>
            </a:prstTxWarp>
            <a:normAutofit/>
          </a:bodyPr>
          <a:p>
            <a:pPr algn="ctr" marL="0"/>
          </a:p>
        </p:txBody>
      </p:sp>
      <p:sp>
        <p:nvSpPr>
          <p:cNvPr name="TextBox 7" id="7"/>
          <p:cNvSpPr txBox="true"/>
          <p:nvPr/>
        </p:nvSpPr>
        <p:spPr>
          <a:xfrm flipH="true">
            <a:off x="1591474" y="1852322"/>
            <a:ext cx="2055536" cy="338554"/>
          </a:xfrm>
          <a:prstGeom prst="rect">
            <a:avLst/>
          </a:prstGeom>
          <a:noFill/>
          <a:ln cap="rnd" cmpd="sng">
            <a:prstDash val="solid"/>
          </a:ln>
        </p:spPr>
        <p:txBody>
          <a:bodyPr anchor="t" rtlCol="false" vert="horz" rot="0" wrap="square" tIns="45720" lIns="91440" bIns="45720" rIns="91440">
            <a:prstTxWarp prst="textNoShape">
              <a:avLst/>
            </a:prstTxWarp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chemeClr val="lt1"/>
                </a:solidFill>
                <a:latin typeface="+mn-ea"/>
                <a:ea typeface="+mn-ea"/>
              </a:rPr>
              <a:t>测试环境搭建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>
            <a:off x="1080134" y="2879663"/>
            <a:ext cx="2777741" cy="2563194"/>
          </a:xfrm>
          <a:prstGeom prst="roundRect">
            <a:avLst>
              <a:gd name="adj" fmla="val 0"/>
            </a:avLst>
          </a:prstGeom>
          <a:solidFill>
            <a:srgbClr val="E4E6EA">
              <a:alpha val="20000"/>
            </a:srgbClr>
          </a:solidFill>
          <a:ln cap="flat" cmpd="sng">
            <a:prstDash val="solid"/>
          </a:ln>
        </p:spPr>
        <p:txBody>
          <a:bodyPr vert="horz" rot="0" anchor="t" wrap="squar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  <p:sp>
        <p:nvSpPr>
          <p:cNvPr name="TextBox 9" id="9"/>
          <p:cNvSpPr txBox="true"/>
          <p:nvPr/>
        </p:nvSpPr>
        <p:spPr>
          <a:xfrm flipH="true">
            <a:off x="5371015" y="1852322"/>
            <a:ext cx="2055536" cy="338554"/>
          </a:xfrm>
          <a:prstGeom prst="rect">
            <a:avLst/>
          </a:prstGeom>
          <a:noFill/>
          <a:ln cap="rnd" cmpd="sng">
            <a:prstDash val="solid"/>
          </a:ln>
        </p:spPr>
        <p:txBody>
          <a:bodyPr anchor="t" rtlCol="false" vert="horz" rot="0" wrap="square" tIns="45720" lIns="91440" bIns="45720" rIns="91440">
            <a:prstTxWarp prst="textNoShape">
              <a:avLst/>
            </a:prstTxWarp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chemeClr val="lt1"/>
                </a:solidFill>
                <a:latin typeface="+mn-ea"/>
                <a:ea typeface="+mn-ea"/>
              </a:rPr>
              <a:t>测试数据生成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>
            <a:off x="4859675" y="2879663"/>
            <a:ext cx="2777741" cy="2563194"/>
          </a:xfrm>
          <a:prstGeom prst="roundRect">
            <a:avLst>
              <a:gd name="adj" fmla="val 0"/>
            </a:avLst>
          </a:prstGeom>
          <a:solidFill>
            <a:srgbClr val="E4E6EA">
              <a:alpha val="20000"/>
            </a:srgbClr>
          </a:solidFill>
          <a:ln cap="flat" cmpd="sng">
            <a:prstDash val="solid"/>
          </a:ln>
        </p:spPr>
        <p:txBody>
          <a:bodyPr vert="horz" rot="0" anchor="t" wrap="squar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  <p:sp>
        <p:nvSpPr>
          <p:cNvPr name="TextBox 11" id="11"/>
          <p:cNvSpPr txBox="true"/>
          <p:nvPr/>
        </p:nvSpPr>
        <p:spPr>
          <a:xfrm flipH="true">
            <a:off x="9150557" y="1852322"/>
            <a:ext cx="2055536" cy="338554"/>
          </a:xfrm>
          <a:prstGeom prst="rect">
            <a:avLst/>
          </a:prstGeom>
          <a:noFill/>
          <a:ln cap="rnd" cmpd="sng">
            <a:prstDash val="solid"/>
          </a:ln>
        </p:spPr>
        <p:txBody>
          <a:bodyPr anchor="t" rtlCol="false" vert="horz" rot="0" wrap="square" tIns="45720" lIns="91440" bIns="45720" rIns="91440">
            <a:prstTxWarp prst="textNoShape">
              <a:avLst/>
            </a:prstTxWarp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chemeClr val="lt1"/>
                </a:solidFill>
                <a:latin typeface="+mn-ea"/>
                <a:ea typeface="+mn-ea"/>
              </a:rPr>
              <a:t>性能指标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>
            <a:off x="8639217" y="2879663"/>
            <a:ext cx="2777741" cy="2563194"/>
          </a:xfrm>
          <a:prstGeom prst="roundRect">
            <a:avLst>
              <a:gd name="adj" fmla="val 0"/>
            </a:avLst>
          </a:prstGeom>
          <a:solidFill>
            <a:srgbClr val="E4E6EA">
              <a:alpha val="20000"/>
            </a:srgbClr>
          </a:solidFill>
          <a:ln cap="flat" cmpd="sng">
            <a:prstDash val="solid"/>
          </a:ln>
        </p:spPr>
        <p:txBody>
          <a:bodyPr vert="horz" rot="0" anchor="t" wrap="squar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  <p:sp>
        <p:nvSpPr>
          <p:cNvPr name="AutoShape 13" id="13"/>
          <p:cNvSpPr/>
          <p:nvPr/>
        </p:nvSpPr>
        <p:spPr>
          <a:xfrm>
            <a:off x="1152022" y="3045804"/>
            <a:ext cx="2633963" cy="698717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Arial"/>
                <a:ea typeface="Arial"/>
              </a:rPr>
              <a:t>选取合适的硬件和软件环境，确保测试结果的准确性。</a:t>
            </a:r>
          </a:p>
        </p:txBody>
      </p:sp>
      <p:sp>
        <p:nvSpPr>
          <p:cNvPr name="AutoShape 14" id="14"/>
          <p:cNvSpPr/>
          <p:nvPr/>
        </p:nvSpPr>
        <p:spPr>
          <a:xfrm>
            <a:off x="4931563" y="3079641"/>
            <a:ext cx="2633963" cy="698717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Arial"/>
                <a:ea typeface="Arial"/>
              </a:rPr>
              <a:t>生成大规模随机数组，模拟真实数据场景。</a:t>
            </a:r>
          </a:p>
        </p:txBody>
      </p:sp>
      <p:sp>
        <p:nvSpPr>
          <p:cNvPr name="AutoShape 15" id="15"/>
          <p:cNvSpPr/>
          <p:nvPr/>
        </p:nvSpPr>
        <p:spPr>
          <a:xfrm>
            <a:off x="8709113" y="3113881"/>
            <a:ext cx="2633963" cy="698717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Arial"/>
                <a:ea typeface="Arial"/>
              </a:rPr>
              <a:t>计算耗时作为主要性能指标，多次测试取平均值。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2F2F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1849031" y="1440077"/>
            <a:ext cx="2592340" cy="1857726"/>
          </a:xfrm>
        </p:spPr>
        <p:txBody>
          <a:bodyPr vert="horz" anchor="b" tIns="45720" lIns="91440" bIns="45720" rIns="91440">
            <a:no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b="true" i="false" sz="11500" baseline="0" u="none">
                <a:solidFill>
                  <a:srgbClr val="FFFFFF"/>
                </a:solidFill>
                <a:latin typeface="+mn-ea"/>
                <a:ea typeface="+mn-ea"/>
              </a:rPr>
              <a:t>03</a:t>
            </a:r>
          </a:p>
        </p:txBody>
      </p:sp>
      <p:sp>
        <p:nvSpPr>
          <p:cNvPr name="AutoShape 3" id="3"/>
          <p:cNvSpPr/>
          <p:nvPr>
            <p:ph type="body" idx="1"/>
          </p:nvPr>
        </p:nvSpPr>
        <p:spPr>
          <a:xfrm>
            <a:off x="2011218" y="3362633"/>
            <a:ext cx="4677176" cy="554960"/>
          </a:xfrm>
        </p:spPr>
        <p:txBody>
          <a:bodyPr vert="horz" anchor="t" tIns="45720" lIns="91440" bIns="45720" rIns="91440">
            <a:normAutofit/>
          </a:bodyPr>
          <a:p>
            <a:pPr algn="l" indent="0" marL="0">
              <a:lnSpc>
                <a:spcPct val="90000"/>
              </a:lnSpc>
              <a:spcBef>
                <a:spcPts val="1000"/>
              </a:spcBef>
            </a:pPr>
            <a:r>
              <a:rPr lang="zh-CN" b="true" i="false" sz="18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多线程并行求和的实现</a:t>
            </a:r>
          </a:p>
        </p:txBody>
      </p:sp>
      <p:cxnSp>
        <p:nvCxnSpPr>
          <p:cNvPr name="Connector 4" id="4"/>
          <p:cNvCxnSpPr/>
          <p:nvPr/>
        </p:nvCxnSpPr>
        <p:spPr>
          <a:xfrm>
            <a:off x="2114437" y="4029968"/>
            <a:ext cx="535781" cy="0"/>
          </a:xfrm>
          <a:prstGeom prst="line">
            <a:avLst/>
          </a:prstGeom>
          <a:ln w="6350" cap="flat" cmpd="sng">
            <a:solidFill>
              <a:srgbClr val="FFFFFF"/>
            </a:solidFill>
            <a:prstDash val="solid"/>
          </a:ln>
        </p:spPr>
      </p:cxn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2F2F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688874" y="10239"/>
            <a:ext cx="10858500" cy="1028700"/>
          </a:xfrm>
          <a:prstGeom prst="rect">
            <a:avLst/>
          </a:prstGeom>
        </p:spPr>
        <p:txBody>
          <a:bodyPr vert="horz" anchor="b" tIns="45720" lIns="91440" bIns="45720" rIns="91440">
            <a:normAutofit/>
          </a:bodyPr>
          <a:p>
            <a:pPr algn="l" marL="0">
              <a:lnSpc>
                <a:spcPct val="90000"/>
              </a:lnSpc>
              <a:spcBef>
                <a:spcPct val="0"/>
              </a:spcBef>
            </a:pPr>
            <a:r>
              <a:rPr lang="zh-CN" b="true" i="false" sz="3200" baseline="0" u="none" altLang="en-US">
                <a:solidFill>
                  <a:srgbClr val="FFFFFF"/>
                </a:solidFill>
                <a:latin typeface="+mn-ea"/>
                <a:ea typeface="+mn-ea"/>
              </a:rPr>
              <a:t>并行求和算法设计</a:t>
            </a:r>
          </a:p>
        </p:txBody>
      </p:sp>
      <p:cxnSp>
        <p:nvCxnSpPr>
          <p:cNvPr name="Connector 3" id="3"/>
          <p:cNvCxnSpPr/>
          <p:nvPr/>
        </p:nvCxnSpPr>
        <p:spPr>
          <a:xfrm>
            <a:off x="660400" y="5877249"/>
            <a:ext cx="3619552" cy="0"/>
          </a:xfrm>
          <a:prstGeom prst="straightConnector1">
            <a:avLst/>
          </a:prstGeom>
          <a:ln w="25400" cap="flat" cmpd="sng">
            <a:solidFill>
              <a:srgbClr val="F0F0F0"/>
            </a:solidFill>
            <a:prstDash val="solid"/>
            <a:headEnd type="oval"/>
          </a:ln>
        </p:spPr>
      </p:cxnSp>
      <p:sp>
        <p:nvSpPr>
          <p:cNvPr name="TextBox 4" id="4"/>
          <p:cNvSpPr txBox="true"/>
          <p:nvPr/>
        </p:nvSpPr>
        <p:spPr>
          <a:xfrm>
            <a:off x="660400" y="4982031"/>
            <a:ext cx="846487" cy="895218"/>
          </a:xfrm>
          <a:prstGeom prst="rect">
            <a:avLst/>
          </a:prstGeom>
          <a:noFill/>
        </p:spPr>
        <p:txBody>
          <a:bodyPr anchor="b" rtlCol="false" vert="horz" wrap="none" tIns="108000" lIns="108000" bIns="108000" rIns="108000">
            <a:spAutoFit/>
          </a:bodyPr>
          <a:lstStyle/>
          <a:p>
            <a:pPr algn="l" marL="0">
              <a:defRPr/>
            </a:pPr>
            <a:r>
              <a:rPr lang="en-US" b="true" i="false" sz="4400" baseline="0" u="none">
                <a:solidFill>
                  <a:srgbClr val="FFFFFF"/>
                </a:solidFill>
                <a:latin typeface="Arial"/>
                <a:ea typeface="Arial"/>
              </a:rPr>
              <a:t>01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>
            <a:off x="4279874" y="5877249"/>
            <a:ext cx="3619552" cy="0"/>
          </a:xfrm>
          <a:prstGeom prst="straightConnector1">
            <a:avLst/>
          </a:prstGeom>
          <a:ln w="25400" cap="flat" cmpd="sng">
            <a:solidFill>
              <a:srgbClr val="F0F0F0"/>
            </a:solidFill>
            <a:prstDash val="solid"/>
            <a:headEnd type="oval"/>
          </a:ln>
        </p:spPr>
      </p:cxnSp>
      <p:sp>
        <p:nvSpPr>
          <p:cNvPr name="TextBox 6" id="6"/>
          <p:cNvSpPr txBox="true"/>
          <p:nvPr/>
        </p:nvSpPr>
        <p:spPr>
          <a:xfrm>
            <a:off x="4279874" y="4982031"/>
            <a:ext cx="846487" cy="895218"/>
          </a:xfrm>
          <a:prstGeom prst="rect">
            <a:avLst/>
          </a:prstGeom>
          <a:noFill/>
        </p:spPr>
        <p:txBody>
          <a:bodyPr anchor="b" rtlCol="false" vert="horz" wrap="none" tIns="108000" lIns="108000" bIns="108000" rIns="108000">
            <a:spAutoFit/>
          </a:bodyPr>
          <a:lstStyle/>
          <a:p>
            <a:pPr algn="l" marL="0">
              <a:defRPr/>
            </a:pPr>
            <a:r>
              <a:rPr lang="en-US" b="true" i="false" sz="4400" baseline="0" u="none">
                <a:solidFill>
                  <a:schemeClr val="accent1"/>
                </a:solidFill>
                <a:latin typeface="Arial"/>
                <a:ea typeface="Arial"/>
              </a:rPr>
              <a:t>02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>
            <a:off x="7899348" y="5877249"/>
            <a:ext cx="3619552" cy="0"/>
          </a:xfrm>
          <a:prstGeom prst="straightConnector1">
            <a:avLst/>
          </a:prstGeom>
          <a:ln w="25400" cap="flat" cmpd="sng">
            <a:solidFill>
              <a:srgbClr val="F0F0F0"/>
            </a:solidFill>
            <a:prstDash val="solid"/>
            <a:headEnd type="oval"/>
          </a:ln>
        </p:spPr>
      </p:cxnSp>
      <p:sp>
        <p:nvSpPr>
          <p:cNvPr name="TextBox 8" id="8"/>
          <p:cNvSpPr txBox="true"/>
          <p:nvPr/>
        </p:nvSpPr>
        <p:spPr>
          <a:xfrm>
            <a:off x="7899348" y="4982031"/>
            <a:ext cx="846487" cy="895218"/>
          </a:xfrm>
          <a:prstGeom prst="rect">
            <a:avLst/>
          </a:prstGeom>
          <a:noFill/>
        </p:spPr>
        <p:txBody>
          <a:bodyPr anchor="b" rtlCol="false" vert="horz" wrap="none" tIns="108000" lIns="108000" bIns="108000" rIns="108000">
            <a:spAutoFit/>
          </a:bodyPr>
          <a:lstStyle/>
          <a:p>
            <a:pPr algn="l" marL="0">
              <a:defRPr/>
            </a:pPr>
            <a:r>
              <a:rPr lang="en-US" b="true" i="false" sz="4400" baseline="0" u="none">
                <a:solidFill>
                  <a:srgbClr val="FFFFFF"/>
                </a:solidFill>
                <a:latin typeface="Arial"/>
                <a:ea typeface="Arial"/>
              </a:rPr>
              <a:t>03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>
            <a:off x="660400" y="1856075"/>
            <a:ext cx="3365089" cy="2750758"/>
          </a:xfrm>
          <a:prstGeom prst="rect">
            <a:avLst/>
          </a:prstGeom>
          <a:solidFill>
            <a:srgbClr val="F0F0F0">
              <a:alpha val="15000"/>
            </a:srgbClr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AutoShape 10" id="10"/>
          <p:cNvSpPr/>
          <p:nvPr/>
        </p:nvSpPr>
        <p:spPr>
          <a:xfrm>
            <a:off x="930652" y="1919431"/>
            <a:ext cx="2824586" cy="464331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108000" lIns="108000" bIns="108000" rIns="108000">
            <a:spAutoFit/>
          </a:bodyPr>
          <a:p>
            <a:pPr algn="l" marL="0"/>
            <a:r>
              <a:rPr lang="zh-CN" b="true" i="false" sz="1600" baseline="0" u="none" altLang="en-US">
                <a:solidFill>
                  <a:srgbClr val="FFFFFF"/>
                </a:solidFill>
                <a:latin typeface="+mn-ea"/>
                <a:ea typeface="+mn-ea"/>
              </a:rPr>
              <a:t>任务分解</a:t>
            </a:r>
          </a:p>
        </p:txBody>
      </p:sp>
      <p:sp>
        <p:nvSpPr>
          <p:cNvPr name="AutoShape 11" id="11"/>
          <p:cNvSpPr/>
          <p:nvPr/>
        </p:nvSpPr>
        <p:spPr>
          <a:xfrm>
            <a:off x="930652" y="2605717"/>
            <a:ext cx="2824586" cy="749089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108000" lIns="108000" bIns="108000" rIns="108000">
            <a:spAutoFit/>
          </a:bodyPr>
          <a:p>
            <a:pPr algn="l" marL="0">
              <a:lnSpc>
                <a:spcPct val="130000"/>
              </a:lnSpc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+mn-ea"/>
                <a:ea typeface="+mn-ea"/>
              </a:rPr>
              <a:t>将大数组划分为多个小块，每个线程负责其中一块的求和任务。</a:t>
            </a:r>
          </a:p>
        </p:txBody>
      </p:sp>
      <p:sp>
        <p:nvSpPr>
          <p:cNvPr name="AutoShape 12" id="12"/>
          <p:cNvSpPr/>
          <p:nvPr/>
        </p:nvSpPr>
        <p:spPr>
          <a:xfrm>
            <a:off x="4261166" y="1856075"/>
            <a:ext cx="3365089" cy="2750758"/>
          </a:xfrm>
          <a:prstGeom prst="rect">
            <a:avLst/>
          </a:prstGeom>
          <a:solidFill>
            <a:schemeClr val="accent1">
              <a:alpha val="15000"/>
            </a:schemeClr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AutoShape 13" id="13"/>
          <p:cNvSpPr/>
          <p:nvPr/>
        </p:nvSpPr>
        <p:spPr>
          <a:xfrm>
            <a:off x="4531418" y="1919431"/>
            <a:ext cx="2824586" cy="464331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108000" lIns="108000" bIns="108000" rIns="108000">
            <a:spAutoFit/>
          </a:bodyPr>
          <a:p>
            <a:pPr algn="l" marL="0"/>
            <a:r>
              <a:rPr lang="zh-CN" b="true" i="false" sz="1600" baseline="0" u="none" altLang="en-US">
                <a:solidFill>
                  <a:srgbClr val="FFFFFF"/>
                </a:solidFill>
                <a:latin typeface="+mn-ea"/>
                <a:ea typeface="+mn-ea"/>
              </a:rPr>
              <a:t>线程创建与管理</a:t>
            </a:r>
          </a:p>
        </p:txBody>
      </p:sp>
      <p:sp>
        <p:nvSpPr>
          <p:cNvPr name="AutoShape 14" id="14"/>
          <p:cNvSpPr/>
          <p:nvPr/>
        </p:nvSpPr>
        <p:spPr>
          <a:xfrm>
            <a:off x="4531418" y="2605717"/>
            <a:ext cx="2824586" cy="749089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108000" lIns="108000" bIns="108000" rIns="108000">
            <a:spAutoFit/>
          </a:bodyPr>
          <a:p>
            <a:pPr algn="l" marL="0">
              <a:lnSpc>
                <a:spcPct val="130000"/>
              </a:lnSpc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+mn-ea"/>
                <a:ea typeface="+mn-ea"/>
              </a:rPr>
              <a:t>使用线程池管理线程，避免频繁创建和销毁线程的开销。</a:t>
            </a:r>
          </a:p>
        </p:txBody>
      </p:sp>
      <p:sp>
        <p:nvSpPr>
          <p:cNvPr name="AutoShape 15" id="15"/>
          <p:cNvSpPr/>
          <p:nvPr/>
        </p:nvSpPr>
        <p:spPr>
          <a:xfrm>
            <a:off x="7896507" y="1837506"/>
            <a:ext cx="3365089" cy="2750758"/>
          </a:xfrm>
          <a:prstGeom prst="rect">
            <a:avLst/>
          </a:prstGeom>
          <a:solidFill>
            <a:srgbClr val="F0F0F0">
              <a:alpha val="15000"/>
            </a:srgbClr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AutoShape 16" id="16"/>
          <p:cNvSpPr/>
          <p:nvPr/>
        </p:nvSpPr>
        <p:spPr>
          <a:xfrm>
            <a:off x="8166759" y="1900862"/>
            <a:ext cx="2824586" cy="464331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108000" lIns="108000" bIns="108000" rIns="108000">
            <a:spAutoFit/>
          </a:bodyPr>
          <a:p>
            <a:pPr algn="l" marL="0"/>
            <a:r>
              <a:rPr lang="zh-CN" b="true" i="false" sz="1600" baseline="0" u="none" altLang="en-US">
                <a:solidFill>
                  <a:srgbClr val="FFFFFF"/>
                </a:solidFill>
                <a:latin typeface="+mn-ea"/>
                <a:ea typeface="+mn-ea"/>
              </a:rPr>
              <a:t>结果汇总</a:t>
            </a:r>
          </a:p>
        </p:txBody>
      </p:sp>
      <p:sp>
        <p:nvSpPr>
          <p:cNvPr name="AutoShape 17" id="17"/>
          <p:cNvSpPr/>
          <p:nvPr/>
        </p:nvSpPr>
        <p:spPr>
          <a:xfrm>
            <a:off x="8166759" y="2587148"/>
            <a:ext cx="2824586" cy="749089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108000" lIns="108000" bIns="108000" rIns="108000">
            <a:spAutoFit/>
          </a:bodyPr>
          <a:p>
            <a:pPr algn="l" marL="0">
              <a:lnSpc>
                <a:spcPct val="130000"/>
              </a:lnSpc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+mn-ea"/>
                <a:ea typeface="+mn-ea"/>
              </a:rPr>
              <a:t>各线程计算完成后，将结果汇总得到最终的求和结果。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2F2F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688874" y="10239"/>
            <a:ext cx="10858500" cy="1028700"/>
          </a:xfrm>
          <a:prstGeom prst="rect">
            <a:avLst/>
          </a:prstGeom>
        </p:spPr>
        <p:txBody>
          <a:bodyPr vert="horz" anchor="b" tIns="45720" lIns="91440" bIns="45720" rIns="91440">
            <a:normAutofit/>
          </a:bodyPr>
          <a:p>
            <a:pPr algn="l" marL="0">
              <a:lnSpc>
                <a:spcPct val="90000"/>
              </a:lnSpc>
              <a:spcBef>
                <a:spcPct val="0"/>
              </a:spcBef>
            </a:pPr>
            <a:r>
              <a:rPr lang="zh-CN" b="true" i="false" sz="3200" baseline="0" u="none" altLang="en-US">
                <a:solidFill>
                  <a:srgbClr val="FFFFFF"/>
                </a:solidFill>
                <a:latin typeface="+mn-ea"/>
                <a:ea typeface="+mn-ea"/>
              </a:rPr>
              <a:t>代码实现细节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670926" y="4318167"/>
            <a:ext cx="1094172" cy="1094172"/>
            <a:chOff x="1024626" y="3363384"/>
            <a:chExt cx="1094172" cy="1094172"/>
          </a:xfrm>
        </p:grpSpPr>
        <p:sp>
          <p:nvSpPr>
            <p:cNvPr name="AutoShape 4" id="4"/>
            <p:cNvSpPr/>
            <p:nvPr/>
          </p:nvSpPr>
          <p:spPr>
            <a:xfrm>
              <a:off x="1024626" y="3363384"/>
              <a:ext cx="1094172" cy="1094172"/>
            </a:xfrm>
            <a:prstGeom prst="ellipse">
              <a:avLst/>
            </a:prstGeom>
            <a:solidFill>
              <a:schemeClr val="accent1"/>
            </a:solidFill>
            <a:ln cap="flat" cmpd="sng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TextBox 5" id="5"/>
            <p:cNvSpPr txBox="true"/>
            <p:nvPr/>
          </p:nvSpPr>
          <p:spPr>
            <a:xfrm>
              <a:off x="1161570" y="3525750"/>
              <a:ext cx="820284" cy="769441"/>
            </a:xfrm>
            <a:prstGeom prst="rect">
              <a:avLst/>
            </a:prstGeom>
            <a:noFill/>
            <a:ln cap="rnd" cmpd="sng">
              <a:prstDash val="solid"/>
            </a:ln>
          </p:spPr>
          <p:txBody>
            <a:bodyPr anchor="ctr" rtlCol="false" vert="horz" rot="0" wrap="square" tIns="45720" lIns="91440" bIns="45720" rIns="91440">
              <a:prstTxWarp prst="textNoShape">
                <a:avLst/>
              </a:prstTxWarp>
              <a:spAutoFit/>
            </a:bodyPr>
            <a:lstStyle/>
            <a:p>
              <a:pPr algn="ctr" marL="0">
                <a:defRPr/>
              </a:pPr>
              <a:r>
                <a:rPr lang="en-US" b="true" i="false" sz="4400" baseline="0" u="none">
                  <a:solidFill>
                    <a:srgbClr val="FFFFFF">
                      <a:lumMod val="90000"/>
                      <a:lumOff val="10000"/>
                    </a:srgbClr>
                  </a:solidFill>
                  <a:latin typeface="Arial"/>
                  <a:ea typeface="Arial"/>
                </a:rPr>
                <a:t>01</a:t>
              </a:r>
              <a:endParaRPr lang="en-US" sz="1100"/>
            </a:p>
          </p:txBody>
        </p:sp>
      </p:grpSp>
      <p:sp>
        <p:nvSpPr>
          <p:cNvPr name="TextBox 6" id="6"/>
          <p:cNvSpPr txBox="true"/>
          <p:nvPr/>
        </p:nvSpPr>
        <p:spPr>
          <a:xfrm>
            <a:off x="1369727" y="1722730"/>
            <a:ext cx="2552615" cy="338554"/>
          </a:xfrm>
          <a:prstGeom prst="rect">
            <a:avLst/>
          </a:prstGeom>
          <a:noFill/>
          <a:ln cap="rnd" cmpd="sng">
            <a:prstDash val="solid"/>
          </a:ln>
        </p:spPr>
        <p:txBody>
          <a:bodyPr anchor="t" rtlCol="false" vert="horz" rot="0" wrap="square" tIns="45720" lIns="91440" bIns="45720" rIns="91440">
            <a:prstTxWarp prst="textNoShape">
              <a:avLst/>
            </a:prstTxWarp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rgbClr val="FFFFFF">
                    <a:lumMod val="90000"/>
                    <a:lumOff val="10000"/>
                  </a:srgbClr>
                </a:solidFill>
                <a:latin typeface="+mn-ea"/>
                <a:ea typeface="+mn-ea"/>
              </a:rPr>
              <a:t>工作线程类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>
            <a:off x="1369727" y="2617092"/>
            <a:ext cx="2552612" cy="1021883"/>
          </a:xfrm>
          <a:prstGeom prst="rect">
            <a:avLst/>
          </a:prstGeom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+mn-ea"/>
                <a:ea typeface="+mn-ea"/>
              </a:rPr>
              <a:t>继承thread类，定义每个线程的计算任务；内部类 SumWorker 实现了线程的具体求和逻辑。</a:t>
            </a:r>
          </a:p>
        </p:txBody>
      </p:sp>
      <p:cxnSp>
        <p:nvCxnSpPr>
          <p:cNvPr name="Connector 8" id="8"/>
          <p:cNvCxnSpPr/>
          <p:nvPr/>
        </p:nvCxnSpPr>
        <p:spPr>
          <a:xfrm flipV="true">
            <a:off x="1218012" y="1802674"/>
            <a:ext cx="0" cy="2515493"/>
          </a:xfrm>
          <a:prstGeom prst="line">
            <a:avLst/>
          </a:prstGeom>
          <a:ln w="15875" cap="flat" cmpd="sng">
            <a:solidFill>
              <a:schemeClr val="accent1"/>
            </a:solidFill>
            <a:prstDash val="solid"/>
            <a:tailEnd type="oval"/>
          </a:ln>
        </p:spPr>
      </p:cxnSp>
      <p:grpSp>
        <p:nvGrpSpPr>
          <p:cNvPr name="Group 9" id="9"/>
          <p:cNvGrpSpPr/>
          <p:nvPr/>
        </p:nvGrpSpPr>
        <p:grpSpPr>
          <a:xfrm>
            <a:off x="4401820" y="4318167"/>
            <a:ext cx="1094172" cy="1094172"/>
            <a:chOff x="1024626" y="3363384"/>
            <a:chExt cx="1094172" cy="1094172"/>
          </a:xfrm>
        </p:grpSpPr>
        <p:sp>
          <p:nvSpPr>
            <p:cNvPr name="AutoShape 10" id="10"/>
            <p:cNvSpPr/>
            <p:nvPr/>
          </p:nvSpPr>
          <p:spPr>
            <a:xfrm>
              <a:off x="1024626" y="3363384"/>
              <a:ext cx="1094172" cy="1094172"/>
            </a:xfrm>
            <a:prstGeom prst="ellipse">
              <a:avLst/>
            </a:prstGeom>
            <a:solidFill>
              <a:srgbClr val="FFFFFF">
                <a:alpha val="40000"/>
                <a:lumMod val="50000"/>
                <a:lumOff val="50000"/>
              </a:srgbClr>
            </a:solidFill>
            <a:ln cap="flat" cmpd="sng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TextBox 11" id="11"/>
            <p:cNvSpPr txBox="true"/>
            <p:nvPr/>
          </p:nvSpPr>
          <p:spPr>
            <a:xfrm>
              <a:off x="1161570" y="3525750"/>
              <a:ext cx="820284" cy="769441"/>
            </a:xfrm>
            <a:prstGeom prst="rect">
              <a:avLst/>
            </a:prstGeom>
            <a:noFill/>
            <a:ln cap="rnd" cmpd="sng">
              <a:prstDash val="solid"/>
            </a:ln>
          </p:spPr>
          <p:txBody>
            <a:bodyPr anchor="ctr" rtlCol="false" vert="horz" rot="0" wrap="square" tIns="45720" lIns="91440" bIns="45720" rIns="91440">
              <a:prstTxWarp prst="textNoShape">
                <a:avLst/>
              </a:prstTxWarp>
              <a:spAutoFit/>
            </a:bodyPr>
            <a:lstStyle/>
            <a:p>
              <a:pPr algn="ctr" marL="0">
                <a:defRPr/>
              </a:pPr>
              <a:r>
                <a:rPr lang="en-US" b="true" i="false" sz="4400" baseline="0" u="none">
                  <a:solidFill>
                    <a:srgbClr val="FFFFFF">
                      <a:lumMod val="90000"/>
                      <a:lumOff val="10000"/>
                    </a:srgbClr>
                  </a:solidFill>
                  <a:latin typeface="Arial"/>
                  <a:ea typeface="Arial"/>
                </a:rPr>
                <a:t>02</a:t>
              </a:r>
              <a:endParaRPr lang="en-US" sz="1100"/>
            </a:p>
          </p:txBody>
        </p:sp>
      </p:grpSp>
      <p:sp>
        <p:nvSpPr>
          <p:cNvPr name="TextBox 12" id="12"/>
          <p:cNvSpPr txBox="true"/>
          <p:nvPr/>
        </p:nvSpPr>
        <p:spPr>
          <a:xfrm>
            <a:off x="5100621" y="1722730"/>
            <a:ext cx="2552615" cy="338554"/>
          </a:xfrm>
          <a:prstGeom prst="rect">
            <a:avLst/>
          </a:prstGeom>
          <a:noFill/>
          <a:ln cap="rnd" cmpd="sng">
            <a:prstDash val="solid"/>
          </a:ln>
        </p:spPr>
        <p:txBody>
          <a:bodyPr anchor="t" rtlCol="false" vert="horz" rot="0" wrap="square" tIns="45720" lIns="91440" bIns="45720" rIns="91440">
            <a:prstTxWarp prst="textNoShape">
              <a:avLst/>
            </a:prstTxWarp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rgbClr val="FFFFFF">
                    <a:lumMod val="90000"/>
                    <a:lumOff val="10000"/>
                  </a:srgbClr>
                </a:solidFill>
                <a:latin typeface="+mn-ea"/>
                <a:ea typeface="+mn-ea"/>
              </a:rPr>
              <a:t>并行计算器类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>
            <a:off x="5100621" y="2617092"/>
            <a:ext cx="2552612" cy="1021883"/>
          </a:xfrm>
          <a:prstGeom prst="rect">
            <a:avLst/>
          </a:prstGeom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+mn-ea"/>
                <a:ea typeface="+mn-ea"/>
              </a:rPr>
              <a:t>创建并管理线程池，分配任务，汇总结果；ParallelSumCalculator 类负责任务分解和结果合并。</a:t>
            </a:r>
          </a:p>
        </p:txBody>
      </p:sp>
      <p:cxnSp>
        <p:nvCxnSpPr>
          <p:cNvPr name="Connector 14" id="14"/>
          <p:cNvCxnSpPr/>
          <p:nvPr/>
        </p:nvCxnSpPr>
        <p:spPr>
          <a:xfrm flipV="true">
            <a:off x="4948906" y="1811383"/>
            <a:ext cx="0" cy="2506784"/>
          </a:xfrm>
          <a:prstGeom prst="line">
            <a:avLst/>
          </a:prstGeom>
          <a:ln w="15875" cap="flat" cmpd="sng">
            <a:solidFill>
              <a:srgbClr val="FFFFFF">
                <a:alpha val="40000"/>
                <a:lumMod val="50000"/>
                <a:lumOff val="50000"/>
              </a:srgbClr>
            </a:solidFill>
            <a:prstDash val="solid"/>
            <a:tailEnd type="oval"/>
          </a:ln>
        </p:spPr>
      </p:cxnSp>
      <p:grpSp>
        <p:nvGrpSpPr>
          <p:cNvPr name="Group 15" id="15"/>
          <p:cNvGrpSpPr/>
          <p:nvPr/>
        </p:nvGrpSpPr>
        <p:grpSpPr>
          <a:xfrm>
            <a:off x="8132714" y="4318167"/>
            <a:ext cx="1094172" cy="1094172"/>
            <a:chOff x="1024626" y="3363384"/>
            <a:chExt cx="1094172" cy="1094172"/>
          </a:xfrm>
        </p:grpSpPr>
        <p:sp>
          <p:nvSpPr>
            <p:cNvPr name="AutoShape 16" id="16"/>
            <p:cNvSpPr/>
            <p:nvPr/>
          </p:nvSpPr>
          <p:spPr>
            <a:xfrm>
              <a:off x="1024626" y="3363384"/>
              <a:ext cx="1094172" cy="1094172"/>
            </a:xfrm>
            <a:prstGeom prst="ellipse">
              <a:avLst/>
            </a:prstGeom>
            <a:solidFill>
              <a:srgbClr val="FFFFFF">
                <a:alpha val="40000"/>
                <a:lumMod val="50000"/>
                <a:lumOff val="50000"/>
              </a:srgbClr>
            </a:solidFill>
            <a:ln cap="flat" cmpd="sng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TextBox 17" id="17"/>
            <p:cNvSpPr txBox="true"/>
            <p:nvPr/>
          </p:nvSpPr>
          <p:spPr>
            <a:xfrm>
              <a:off x="1161570" y="3525750"/>
              <a:ext cx="820284" cy="769441"/>
            </a:xfrm>
            <a:prstGeom prst="rect">
              <a:avLst/>
            </a:prstGeom>
            <a:noFill/>
            <a:ln cap="rnd" cmpd="sng">
              <a:prstDash val="solid"/>
            </a:ln>
          </p:spPr>
          <p:txBody>
            <a:bodyPr anchor="ctr" rtlCol="false" vert="horz" rot="0" wrap="square" tIns="45720" lIns="91440" bIns="45720" rIns="91440">
              <a:prstTxWarp prst="textNoShape">
                <a:avLst/>
              </a:prstTxWarp>
              <a:spAutoFit/>
            </a:bodyPr>
            <a:lstStyle/>
            <a:p>
              <a:pPr algn="ctr" marL="0">
                <a:defRPr/>
              </a:pPr>
              <a:r>
                <a:rPr lang="en-US" b="true" i="false" sz="4400" baseline="0" u="none">
                  <a:solidFill>
                    <a:srgbClr val="FFFFFF">
                      <a:lumMod val="90000"/>
                      <a:lumOff val="10000"/>
                    </a:srgbClr>
                  </a:solidFill>
                  <a:latin typeface="Arial"/>
                  <a:ea typeface="Arial"/>
                </a:rPr>
                <a:t>03</a:t>
              </a:r>
              <a:endParaRPr lang="en-US" sz="1100"/>
            </a:p>
          </p:txBody>
        </p:sp>
      </p:grpSp>
      <p:sp>
        <p:nvSpPr>
          <p:cNvPr name="TextBox 18" id="18"/>
          <p:cNvSpPr txBox="true"/>
          <p:nvPr/>
        </p:nvSpPr>
        <p:spPr>
          <a:xfrm>
            <a:off x="8831515" y="1722730"/>
            <a:ext cx="2552615" cy="338554"/>
          </a:xfrm>
          <a:prstGeom prst="rect">
            <a:avLst/>
          </a:prstGeom>
          <a:noFill/>
          <a:ln cap="rnd" cmpd="sng">
            <a:prstDash val="solid"/>
          </a:ln>
        </p:spPr>
        <p:txBody>
          <a:bodyPr anchor="t" rtlCol="false" vert="horz" rot="0" wrap="square" tIns="45720" lIns="91440" bIns="45720" rIns="91440">
            <a:prstTxWarp prst="textNoShape">
              <a:avLst/>
            </a:prstTxWarp>
            <a:spAutoFit/>
          </a:bodyPr>
          <a:lstStyle/>
          <a:p>
            <a:pPr algn="l" marL="0">
              <a:defRPr/>
            </a:pPr>
            <a:r>
              <a:rPr lang="en-US" b="true" i="false" sz="1600" baseline="0" u="none">
                <a:solidFill>
                  <a:srgbClr val="FFFFFF">
                    <a:lumMod val="90000"/>
                    <a:lumOff val="10000"/>
                  </a:srgbClr>
                </a:solidFill>
                <a:latin typeface="+mn-ea"/>
                <a:ea typeface="+mn-ea"/>
              </a:rPr>
              <a:t> 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>
            <a:off x="8831515" y="2617092"/>
            <a:ext cx="2552612" cy="1021883"/>
          </a:xfrm>
          <a:prstGeom prst="rect">
            <a:avLst/>
          </a:prstGeom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50000"/>
              </a:lnSpc>
            </a:pPr>
            <a:r>
              <a:rPr lang="en-US" b="false" i="false" sz="1400" baseline="0" u="none">
                <a:solidFill>
                  <a:srgbClr val="FFFFFF"/>
                </a:solidFill>
                <a:latin typeface="+mn-ea"/>
                <a:ea typeface="+mn-ea"/>
              </a:rPr>
              <a:t>#####</a:t>
            </a:r>
          </a:p>
        </p:txBody>
      </p:sp>
      <p:cxnSp>
        <p:nvCxnSpPr>
          <p:cNvPr name="Connector 20" id="20"/>
          <p:cNvCxnSpPr/>
          <p:nvPr/>
        </p:nvCxnSpPr>
        <p:spPr>
          <a:xfrm flipV="true">
            <a:off x="8679800" y="1828800"/>
            <a:ext cx="0" cy="2489367"/>
          </a:xfrm>
          <a:prstGeom prst="line">
            <a:avLst/>
          </a:prstGeom>
          <a:ln w="15875" cap="flat" cmpd="sng">
            <a:solidFill>
              <a:srgbClr val="FFFFFF">
                <a:alpha val="40000"/>
                <a:lumMod val="50000"/>
                <a:lumOff val="50000"/>
              </a:srgbClr>
            </a:solidFill>
            <a:prstDash val="solid"/>
            <a:tailEnd type="oval"/>
          </a:ln>
        </p:spPr>
      </p:cxn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2F2F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1849031" y="1440077"/>
            <a:ext cx="2592340" cy="1857726"/>
          </a:xfrm>
        </p:spPr>
        <p:txBody>
          <a:bodyPr vert="horz" anchor="b" tIns="45720" lIns="91440" bIns="45720" rIns="91440">
            <a:no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b="true" i="false" sz="11500" baseline="0" u="none">
                <a:solidFill>
                  <a:srgbClr val="FFFFFF"/>
                </a:solidFill>
                <a:latin typeface="+mn-ea"/>
                <a:ea typeface="+mn-ea"/>
              </a:rPr>
              <a:t>04</a:t>
            </a:r>
          </a:p>
        </p:txBody>
      </p:sp>
      <p:sp>
        <p:nvSpPr>
          <p:cNvPr name="AutoShape 3" id="3"/>
          <p:cNvSpPr/>
          <p:nvPr>
            <p:ph type="body" idx="1"/>
          </p:nvPr>
        </p:nvSpPr>
        <p:spPr>
          <a:xfrm>
            <a:off x="2011218" y="3362633"/>
            <a:ext cx="4677176" cy="554960"/>
          </a:xfrm>
        </p:spPr>
        <p:txBody>
          <a:bodyPr vert="horz" anchor="t" tIns="45720" lIns="91440" bIns="45720" rIns="91440">
            <a:normAutofit/>
          </a:bodyPr>
          <a:p>
            <a:pPr algn="l" indent="0" marL="0">
              <a:lnSpc>
                <a:spcPct val="90000"/>
              </a:lnSpc>
              <a:spcBef>
                <a:spcPts val="1000"/>
              </a:spcBef>
            </a:pPr>
            <a:r>
              <a:rPr lang="zh-CN" b="true" i="false" sz="18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多线程求和的性能优化</a:t>
            </a:r>
          </a:p>
        </p:txBody>
      </p:sp>
      <p:cxnSp>
        <p:nvCxnSpPr>
          <p:cNvPr name="Connector 4" id="4"/>
          <p:cNvCxnSpPr/>
          <p:nvPr/>
        </p:nvCxnSpPr>
        <p:spPr>
          <a:xfrm>
            <a:off x="2114437" y="4029968"/>
            <a:ext cx="535781" cy="0"/>
          </a:xfrm>
          <a:prstGeom prst="line">
            <a:avLst/>
          </a:prstGeom>
          <a:ln w="6350" cap="flat" cmpd="sng">
            <a:solidFill>
              <a:srgbClr val="FFFFFF"/>
            </a:solidFill>
            <a:prstDash val="solid"/>
          </a:ln>
        </p:spPr>
      </p:cxn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2F2F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688874" y="10239"/>
            <a:ext cx="10858500" cy="1028700"/>
          </a:xfrm>
          <a:prstGeom prst="rect">
            <a:avLst/>
          </a:prstGeom>
        </p:spPr>
        <p:txBody>
          <a:bodyPr vert="horz" anchor="b" tIns="45720" lIns="91440" bIns="45720" rIns="91440">
            <a:normAutofit/>
          </a:bodyPr>
          <a:p>
            <a:pPr algn="l" marL="0">
              <a:lnSpc>
                <a:spcPct val="90000"/>
              </a:lnSpc>
              <a:spcBef>
                <a:spcPct val="0"/>
              </a:spcBef>
            </a:pPr>
            <a:r>
              <a:rPr lang="zh-CN" b="true" i="false" sz="3200" baseline="0" u="none" altLang="en-US">
                <a:solidFill>
                  <a:srgbClr val="FFFFFF"/>
                </a:solidFill>
                <a:latin typeface="+mn-ea"/>
                <a:ea typeface="+mn-ea"/>
              </a:rPr>
              <a:t>线程数的选择</a:t>
            </a:r>
          </a:p>
        </p:txBody>
      </p:sp>
      <p:sp>
        <p:nvSpPr>
          <p:cNvPr name="Freeform 3" id="3"/>
          <p:cNvSpPr/>
          <p:nvPr/>
        </p:nvSpPr>
        <p:spPr>
          <a:xfrm flipH="true">
            <a:off x="6604000" y="10239"/>
            <a:ext cx="5588000" cy="6857999"/>
          </a:xfrm>
          <a:custGeom>
            <a:avLst/>
            <a:gdLst/>
            <a:ahLst/>
            <a:cxnLst/>
            <a:rect r="r" b="b" t="t" l="l"/>
            <a:pathLst>
              <a:path w="5588000" h="6857999" stroke="true" fill="norm" extrusionOk="true">
                <a:moveTo>
                  <a:pt x="4339477" y="0"/>
                </a:moveTo>
                <a:lnTo>
                  <a:pt x="0" y="0"/>
                </a:lnTo>
                <a:lnTo>
                  <a:pt x="0" y="6857999"/>
                </a:lnTo>
                <a:lnTo>
                  <a:pt x="4339478" y="6857999"/>
                </a:lnTo>
                <a:lnTo>
                  <a:pt x="4369438" y="6823412"/>
                </a:lnTo>
                <a:cubicBezTo>
                  <a:pt x="5130699" y="5900977"/>
                  <a:pt x="5588000" y="4718393"/>
                  <a:pt x="5588000" y="3429000"/>
                </a:cubicBezTo>
                <a:cubicBezTo>
                  <a:pt x="5588000" y="2139608"/>
                  <a:pt x="5130699" y="957024"/>
                  <a:pt x="4369438" y="34588"/>
                </a:cubicBezTo>
                <a:close/>
              </a:path>
            </a:pathLst>
          </a:custGeom>
          <a:solidFill>
            <a:srgbClr val="E4E6EA">
              <a:alpha val="20000"/>
            </a:srgbClr>
          </a:solidFill>
          <a:ln cap="flat" cmpd="sng">
            <a:prstDash val="solid"/>
          </a:ln>
        </p:spPr>
        <p:txBody>
          <a:bodyPr vert="horz" rot="0" anchor="t" wrap="squar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  <p:sp>
        <p:nvSpPr>
          <p:cNvPr name="AutoShape 4" id="4"/>
          <p:cNvSpPr/>
          <p:nvPr/>
        </p:nvSpPr>
        <p:spPr>
          <a:xfrm flipH="true">
            <a:off x="1173634" y="1605730"/>
            <a:ext cx="5157403" cy="501328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108000" lIns="108000" bIns="108000" rIns="10800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Arial"/>
                <a:ea typeface="Arial"/>
              </a:rPr>
              <a:t>线程数并非越多越好，需要根据CPU核心数进行调整。</a:t>
            </a:r>
          </a:p>
        </p:txBody>
      </p:sp>
      <p:sp>
        <p:nvSpPr>
          <p:cNvPr name="AutoShape 5" id="5"/>
          <p:cNvSpPr/>
          <p:nvPr/>
        </p:nvSpPr>
        <p:spPr>
          <a:xfrm flipH="true">
            <a:off x="1173633" y="1255798"/>
            <a:ext cx="5157403" cy="427979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90000" lIns="91440" bIns="90000" rIns="91440">
            <a:spAutoFit/>
          </a:bodyPr>
          <a:p>
            <a:pPr algn="l" marL="0"/>
            <a:r>
              <a:rPr lang="zh-CN" b="true" i="false" sz="1600" baseline="0" u="none" altLang="en-US">
                <a:solidFill>
                  <a:srgbClr val="FFFFFF"/>
                </a:solidFill>
                <a:latin typeface="Arial"/>
                <a:ea typeface="Arial"/>
              </a:rPr>
              <a:t>线程数与CPU核心数的关系</a:t>
            </a:r>
          </a:p>
        </p:txBody>
      </p:sp>
      <p:sp>
        <p:nvSpPr>
          <p:cNvPr name="AutoShape 6" id="6"/>
          <p:cNvSpPr/>
          <p:nvPr/>
        </p:nvSpPr>
        <p:spPr>
          <a:xfrm>
            <a:off x="555439" y="1463576"/>
            <a:ext cx="406400" cy="406400"/>
          </a:xfrm>
          <a:prstGeom prst="roundRect">
            <a:avLst/>
          </a:prstGeom>
          <a:solidFill>
            <a:schemeClr val="accent1"/>
          </a:solidFill>
          <a:ln cap="flat" cmpd="sng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  <a:r>
              <a:rPr lang="en-US" b="true" i="false" sz="1200" baseline="0" u="none">
                <a:solidFill>
                  <a:schemeClr val="lt1"/>
                </a:solidFill>
                <a:latin typeface="Arial"/>
                <a:ea typeface="Arial"/>
              </a:rPr>
              <a:t>01</a:t>
            </a:r>
          </a:p>
        </p:txBody>
      </p:sp>
      <p:sp>
        <p:nvSpPr>
          <p:cNvPr name="AutoShape 7" id="7"/>
          <p:cNvSpPr/>
          <p:nvPr/>
        </p:nvSpPr>
        <p:spPr>
          <a:xfrm flipH="true">
            <a:off x="1173634" y="3228904"/>
            <a:ext cx="5157403" cy="501328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108000" lIns="108000" bIns="108000" rIns="10800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Arial"/>
                <a:ea typeface="Arial"/>
              </a:rPr>
              <a:t>过多的线程会带来额外的上下文切换开销，降低性能。</a:t>
            </a:r>
          </a:p>
        </p:txBody>
      </p:sp>
      <p:sp>
        <p:nvSpPr>
          <p:cNvPr name="AutoShape 8" id="8"/>
          <p:cNvSpPr/>
          <p:nvPr/>
        </p:nvSpPr>
        <p:spPr>
          <a:xfrm flipH="true">
            <a:off x="1173633" y="2878972"/>
            <a:ext cx="5157403" cy="427979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90000" lIns="91440" bIns="90000" rIns="91440">
            <a:spAutoFit/>
          </a:bodyPr>
          <a:p>
            <a:pPr algn="l" marL="0"/>
            <a:r>
              <a:rPr lang="zh-CN" b="true" i="false" sz="1600" baseline="0" u="none" altLang="en-US">
                <a:solidFill>
                  <a:srgbClr val="FFFFFF"/>
                </a:solidFill>
                <a:latin typeface="Arial"/>
                <a:ea typeface="Arial"/>
              </a:rPr>
              <a:t>过多线程的开销</a:t>
            </a:r>
          </a:p>
        </p:txBody>
      </p:sp>
      <p:sp>
        <p:nvSpPr>
          <p:cNvPr name="AutoShape 9" id="9"/>
          <p:cNvSpPr/>
          <p:nvPr/>
        </p:nvSpPr>
        <p:spPr>
          <a:xfrm>
            <a:off x="555439" y="3086750"/>
            <a:ext cx="406400" cy="406400"/>
          </a:xfrm>
          <a:prstGeom prst="roundRect">
            <a:avLst/>
          </a:prstGeom>
          <a:solidFill>
            <a:schemeClr val="accent2"/>
          </a:solidFill>
          <a:ln cap="flat" cmpd="sng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  <a:r>
              <a:rPr lang="en-US" b="true" i="false" sz="1200" baseline="0" u="none">
                <a:solidFill>
                  <a:schemeClr val="lt1"/>
                </a:solidFill>
                <a:latin typeface="Arial"/>
                <a:ea typeface="Arial"/>
              </a:rPr>
              <a:t>02</a:t>
            </a:r>
          </a:p>
        </p:txBody>
      </p:sp>
      <p:sp>
        <p:nvSpPr>
          <p:cNvPr name="AutoShape 10" id="10"/>
          <p:cNvSpPr/>
          <p:nvPr/>
        </p:nvSpPr>
        <p:spPr>
          <a:xfrm flipH="true">
            <a:off x="1173634" y="4852078"/>
            <a:ext cx="5157403" cy="501328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108000" lIns="108000" bIns="108000" rIns="10800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Arial"/>
                <a:ea typeface="Arial"/>
              </a:rPr>
              <a:t>通常情况下，线程数设置为CPU核心数的1-2倍能获得较好的性能。</a:t>
            </a:r>
          </a:p>
        </p:txBody>
      </p:sp>
      <p:sp>
        <p:nvSpPr>
          <p:cNvPr name="AutoShape 11" id="11"/>
          <p:cNvSpPr/>
          <p:nvPr/>
        </p:nvSpPr>
        <p:spPr>
          <a:xfrm flipH="true">
            <a:off x="1173633" y="4502146"/>
            <a:ext cx="5157403" cy="427979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90000" lIns="91440" bIns="90000" rIns="91440">
            <a:spAutoFit/>
          </a:bodyPr>
          <a:p>
            <a:pPr algn="l" marL="0"/>
            <a:r>
              <a:rPr lang="zh-CN" b="true" i="false" sz="1600" baseline="0" u="none" altLang="en-US">
                <a:solidFill>
                  <a:srgbClr val="FFFFFF"/>
                </a:solidFill>
                <a:latin typeface="Arial"/>
                <a:ea typeface="Arial"/>
              </a:rPr>
              <a:t>最佳线程数</a:t>
            </a:r>
          </a:p>
        </p:txBody>
      </p:sp>
      <p:sp>
        <p:nvSpPr>
          <p:cNvPr name="AutoShape 12" id="12"/>
          <p:cNvSpPr/>
          <p:nvPr/>
        </p:nvSpPr>
        <p:spPr>
          <a:xfrm>
            <a:off x="555439" y="4709924"/>
            <a:ext cx="406400" cy="406400"/>
          </a:xfrm>
          <a:prstGeom prst="roundRect">
            <a:avLst/>
          </a:prstGeom>
          <a:solidFill>
            <a:schemeClr val="accent1"/>
          </a:solidFill>
          <a:ln cap="flat" cmpd="sng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  <a:r>
              <a:rPr lang="en-US" b="true" i="false" sz="1200" baseline="0" u="none">
                <a:solidFill>
                  <a:schemeClr val="lt1"/>
                </a:solidFill>
                <a:latin typeface="Arial"/>
                <a:ea typeface="Arial"/>
              </a:rPr>
              <a:t>03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2F2F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name="Connector 2" id="2"/>
          <p:cNvCxnSpPr/>
          <p:nvPr/>
        </p:nvCxnSpPr>
        <p:spPr>
          <a:xfrm>
            <a:off x="3285130" y="3702065"/>
            <a:ext cx="512066" cy="262"/>
          </a:xfrm>
          <a:prstGeom prst="line">
            <a:avLst/>
          </a:prstGeom>
          <a:ln w="9525" cap="flat" cmpd="sng">
            <a:solidFill>
              <a:srgbClr val="FFFFFF">
                <a:alpha val="40000"/>
                <a:lumMod val="50000"/>
                <a:lumOff val="50000"/>
              </a:srgbClr>
            </a:solidFill>
            <a:prstDash val="solid"/>
            <a:tailEnd w="lg" type="arrow"/>
          </a:ln>
        </p:spPr>
      </p:cxnSp>
      <p:sp>
        <p:nvSpPr>
          <p:cNvPr name="AutoShape 3" id="3"/>
          <p:cNvSpPr/>
          <p:nvPr/>
        </p:nvSpPr>
        <p:spPr>
          <a:xfrm>
            <a:off x="1739019" y="3002872"/>
            <a:ext cx="1332457" cy="1349297"/>
          </a:xfrm>
          <a:prstGeom prst="ellipse">
            <a:avLst/>
          </a:prstGeom>
          <a:solidFill>
            <a:schemeClr val="accent1"/>
          </a:solidFill>
          <a:ln cap="flat" cmpd="sng">
            <a:prstDash val="solid"/>
          </a:ln>
        </p:spPr>
        <p:txBody>
          <a:bodyPr vert="horz" anchor="ctr" wrap="none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4" id="4"/>
          <p:cNvSpPr/>
          <p:nvPr/>
        </p:nvSpPr>
        <p:spPr>
          <a:xfrm>
            <a:off x="1513272" y="2774272"/>
            <a:ext cx="1783951" cy="1806497"/>
          </a:xfrm>
          <a:prstGeom prst="ellipse">
            <a:avLst/>
          </a:prstGeom>
          <a:noFill/>
          <a:ln w="38100" cap="flat" cmpd="sng">
            <a:solidFill>
              <a:schemeClr val="accent1"/>
            </a:solidFill>
            <a:prstDash val="solid"/>
          </a:ln>
        </p:spPr>
        <p:txBody>
          <a:bodyPr vert="horz" anchor="ctr" wrap="none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5" id="5"/>
          <p:cNvSpPr/>
          <p:nvPr/>
        </p:nvSpPr>
        <p:spPr>
          <a:xfrm>
            <a:off x="3972417" y="1212017"/>
            <a:ext cx="6913877" cy="1528284"/>
          </a:xfrm>
          <a:prstGeom prst="rect">
            <a:avLst/>
          </a:prstGeom>
          <a:solidFill>
            <a:srgbClr val="FFFFFF">
              <a:alpha val="50000"/>
              <a:lumMod val="10000"/>
              <a:lumOff val="90000"/>
            </a:srgbClr>
          </a:solidFill>
          <a:ln cap="flat" cmpd="sng">
            <a:prstDash val="solid"/>
          </a:ln>
        </p:spPr>
        <p:txBody>
          <a:bodyPr vert="horz" rot="0" anchor="t" wrap="square" tIns="45720" lIns="91440" bIns="45720" rIns="91440">
            <a:prstTxWarp prst="textNoShape">
              <a:avLst/>
            </a:prstTxWarp>
            <a:normAutofit/>
          </a:bodyPr>
          <a:p>
            <a:pPr algn="ctr" marL="0"/>
          </a:p>
        </p:txBody>
      </p:sp>
      <p:sp>
        <p:nvSpPr>
          <p:cNvPr name="TextBox 6" id="6"/>
          <p:cNvSpPr txBox="true"/>
          <p:nvPr/>
        </p:nvSpPr>
        <p:spPr>
          <a:xfrm>
            <a:off x="4713832" y="1256603"/>
            <a:ext cx="5997246" cy="338554"/>
          </a:xfrm>
          <a:prstGeom prst="rect">
            <a:avLst/>
          </a:prstGeom>
          <a:noFill/>
        </p:spPr>
        <p:txBody>
          <a:bodyPr anchor="ctr" rtlCol="false" vert="horz" wrap="square" tIns="45720" lIns="91440" bIns="45720" rIns="91440">
            <a:spAutoFit/>
          </a:bodyPr>
          <a:lstStyle/>
          <a:p>
            <a:pPr algn="l" fontAlgn="auto" marR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b="true" i="false" sz="1600" baseline="0" u="none" altLang="en-US">
                <a:ln/>
                <a:solidFill>
                  <a:srgbClr val="FFFFFF"/>
                </a:solidFill>
                <a:latin typeface="+mn-ea"/>
                <a:ea typeface="+mn-ea"/>
              </a:rPr>
              <a:t>均匀划分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flipH="true">
            <a:off x="4713827" y="1567876"/>
            <a:ext cx="5997246" cy="375552"/>
          </a:xfrm>
          <a:prstGeom prst="rect">
            <a:avLst/>
          </a:prstGeom>
        </p:spPr>
        <p:txBody>
          <a:bodyPr vert="horz" anchor="t" wrap="square" tIns="45720" lIns="91440" bIns="45720" rIns="91440">
            <a:spAutoFit/>
          </a:bodyPr>
          <a:p>
            <a:pPr fontAlgn="auto" algn="l" indent="0" marR="0"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b="false" i="false" sz="1400" baseline="0" u="none" altLang="en-US">
                <a:ln/>
                <a:solidFill>
                  <a:srgbClr val="FFFFFF"/>
                </a:solidFill>
                <a:latin typeface="+mn-ea"/>
                <a:ea typeface="+mn-ea"/>
              </a:rPr>
              <a:t>将数组均匀划分为多个块，保证每个线程的任务量基本一致。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4057515" y="1748823"/>
            <a:ext cx="571209" cy="400110"/>
          </a:xfrm>
          <a:prstGeom prst="rect">
            <a:avLst/>
          </a:prstGeom>
          <a:noFill/>
        </p:spPr>
        <p:txBody>
          <a:bodyPr anchor="ctr" rtlCol="false" vert="horz" wrap="square" tIns="45720" lIns="91440" bIns="45720" rIns="91440">
            <a:spAutoFit/>
          </a:bodyPr>
          <a:lstStyle/>
          <a:p>
            <a:pPr algn="r" fontAlgn="auto" indent="0" marR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b="true" i="false" sz="2000" baseline="0" u="none">
                <a:ln/>
                <a:solidFill>
                  <a:srgbClr val="FFFFFF"/>
                </a:solidFill>
                <a:latin typeface="Arial"/>
                <a:ea typeface="Arial"/>
              </a:rPr>
              <a:t>01.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>
            <a:off x="3972417" y="2913379"/>
            <a:ext cx="6913877" cy="1528284"/>
          </a:xfrm>
          <a:prstGeom prst="rect">
            <a:avLst/>
          </a:prstGeom>
          <a:solidFill>
            <a:srgbClr val="FFFFFF">
              <a:alpha val="50000"/>
              <a:lumMod val="10000"/>
              <a:lumOff val="90000"/>
            </a:srgbClr>
          </a:solidFill>
          <a:ln cap="flat" cmpd="sng">
            <a:prstDash val="solid"/>
          </a:ln>
        </p:spPr>
        <p:txBody>
          <a:bodyPr vert="horz" rot="0" anchor="t" wrap="square" tIns="45720" lIns="91440" bIns="45720" rIns="91440">
            <a:prstTxWarp prst="textNoShape">
              <a:avLst/>
            </a:prstTxWarp>
            <a:normAutofit/>
          </a:bodyPr>
          <a:p>
            <a:pPr algn="ctr" marL="0"/>
          </a:p>
        </p:txBody>
      </p:sp>
      <p:sp>
        <p:nvSpPr>
          <p:cNvPr name="TextBox 10" id="10"/>
          <p:cNvSpPr txBox="true"/>
          <p:nvPr/>
        </p:nvSpPr>
        <p:spPr>
          <a:xfrm>
            <a:off x="4713832" y="2957965"/>
            <a:ext cx="5997246" cy="338554"/>
          </a:xfrm>
          <a:prstGeom prst="rect">
            <a:avLst/>
          </a:prstGeom>
          <a:noFill/>
        </p:spPr>
        <p:txBody>
          <a:bodyPr anchor="ctr" rtlCol="false" vert="horz" wrap="square" tIns="45720" lIns="91440" bIns="45720" rIns="91440">
            <a:spAutoFit/>
          </a:bodyPr>
          <a:lstStyle/>
          <a:p>
            <a:pPr algn="l" fontAlgn="auto" marR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b="true" i="false" sz="1600" baseline="0" u="none" altLang="en-US">
                <a:ln/>
                <a:solidFill>
                  <a:srgbClr val="FFFFFF"/>
                </a:solidFill>
                <a:latin typeface="+mn-ea"/>
                <a:ea typeface="+mn-ea"/>
              </a:rPr>
              <a:t>动态调整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flipH="true">
            <a:off x="4713827" y="3269238"/>
            <a:ext cx="5997246" cy="375552"/>
          </a:xfrm>
          <a:prstGeom prst="rect">
            <a:avLst/>
          </a:prstGeom>
        </p:spPr>
        <p:txBody>
          <a:bodyPr vert="horz" anchor="t" wrap="square" tIns="45720" lIns="91440" bIns="45720" rIns="91440">
            <a:spAutoFit/>
          </a:bodyPr>
          <a:p>
            <a:pPr fontAlgn="auto" algn="l" indent="0" marR="0"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b="false" i="false" sz="1400" baseline="0" u="none" altLang="en-US">
                <a:ln/>
                <a:solidFill>
                  <a:srgbClr val="FFFFFF"/>
                </a:solidFill>
                <a:latin typeface="+mn-ea"/>
                <a:ea typeface="+mn-ea"/>
              </a:rPr>
              <a:t>根据线程的执行情况，动态调整任务分配，避免出现负载不均衡的情况。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4067664" y="3520052"/>
            <a:ext cx="571209" cy="400110"/>
          </a:xfrm>
          <a:prstGeom prst="rect">
            <a:avLst/>
          </a:prstGeom>
          <a:noFill/>
        </p:spPr>
        <p:txBody>
          <a:bodyPr anchor="ctr" rtlCol="false" vert="horz" wrap="square" tIns="45720" lIns="91440" bIns="45720" rIns="91440">
            <a:spAutoFit/>
          </a:bodyPr>
          <a:lstStyle/>
          <a:p>
            <a:pPr algn="r" fontAlgn="auto" indent="0" marR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b="true" i="false" sz="2000" baseline="0" u="none">
                <a:ln/>
                <a:solidFill>
                  <a:srgbClr val="FFFFFF"/>
                </a:solidFill>
                <a:latin typeface="Arial"/>
                <a:ea typeface="Arial"/>
              </a:rPr>
              <a:t>02.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>
            <a:off x="3972417" y="4614741"/>
            <a:ext cx="6913877" cy="1528284"/>
          </a:xfrm>
          <a:prstGeom prst="rect">
            <a:avLst/>
          </a:prstGeom>
          <a:solidFill>
            <a:srgbClr val="FFFFFF">
              <a:alpha val="50000"/>
              <a:lumMod val="10000"/>
              <a:lumOff val="90000"/>
            </a:srgbClr>
          </a:solidFill>
          <a:ln cap="flat" cmpd="sng">
            <a:prstDash val="solid"/>
          </a:ln>
        </p:spPr>
        <p:txBody>
          <a:bodyPr vert="horz" rot="0" anchor="t" wrap="square" tIns="45720" lIns="91440" bIns="45720" rIns="91440">
            <a:prstTxWarp prst="textNoShape">
              <a:avLst/>
            </a:prstTxWarp>
            <a:normAutofit/>
          </a:bodyPr>
          <a:p>
            <a:pPr algn="ctr" marL="0"/>
          </a:p>
        </p:txBody>
      </p:sp>
      <p:sp>
        <p:nvSpPr>
          <p:cNvPr name="TextBox 14" id="14"/>
          <p:cNvSpPr txBox="true"/>
          <p:nvPr/>
        </p:nvSpPr>
        <p:spPr>
          <a:xfrm>
            <a:off x="4713832" y="4659327"/>
            <a:ext cx="5997246" cy="338554"/>
          </a:xfrm>
          <a:prstGeom prst="rect">
            <a:avLst/>
          </a:prstGeom>
          <a:noFill/>
        </p:spPr>
        <p:txBody>
          <a:bodyPr anchor="ctr" rtlCol="false" vert="horz" wrap="square" tIns="45720" lIns="91440" bIns="45720" rIns="91440">
            <a:spAutoFit/>
          </a:bodyPr>
          <a:lstStyle/>
          <a:p>
            <a:pPr algn="l" fontAlgn="auto" marR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b="true" i="false" sz="1600" baseline="0" u="none">
                <a:ln/>
                <a:solidFill>
                  <a:srgbClr val="FFFFFF"/>
                </a:solidFill>
                <a:latin typeface="+mn-ea"/>
                <a:ea typeface="+mn-ea"/>
              </a:rPr>
              <a:t> 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flipH="true">
            <a:off x="4713827" y="4970600"/>
            <a:ext cx="5997246" cy="375552"/>
          </a:xfrm>
          <a:prstGeom prst="rect">
            <a:avLst/>
          </a:prstGeom>
        </p:spPr>
        <p:txBody>
          <a:bodyPr vert="horz" anchor="t" wrap="square" tIns="45720" lIns="91440" bIns="45720" rIns="91440">
            <a:spAutoFit/>
          </a:bodyPr>
          <a:p>
            <a:pPr fontAlgn="auto" algn="l" indent="0" marR="0"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b="false" i="false" sz="1400" baseline="0" u="none">
                <a:ln/>
                <a:solidFill>
                  <a:srgbClr val="FFFFFF"/>
                </a:solidFill>
                <a:latin typeface="+mn-ea"/>
                <a:ea typeface="+mn-ea"/>
              </a:rPr>
              <a:t>#####</a:t>
            </a:r>
          </a:p>
        </p:txBody>
      </p:sp>
      <p:sp>
        <p:nvSpPr>
          <p:cNvPr name="TextBox 16" id="16"/>
          <p:cNvSpPr txBox="true"/>
          <p:nvPr/>
        </p:nvSpPr>
        <p:spPr>
          <a:xfrm>
            <a:off x="3979491" y="5151283"/>
            <a:ext cx="571209" cy="400110"/>
          </a:xfrm>
          <a:prstGeom prst="rect">
            <a:avLst/>
          </a:prstGeom>
          <a:noFill/>
        </p:spPr>
        <p:txBody>
          <a:bodyPr anchor="ctr" rtlCol="false" vert="horz" wrap="square" tIns="45720" lIns="91440" bIns="45720" rIns="91440">
            <a:spAutoFit/>
          </a:bodyPr>
          <a:lstStyle/>
          <a:p>
            <a:pPr algn="r" fontAlgn="auto" indent="0" marR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b="true" i="false" sz="2000" baseline="0" u="none">
                <a:ln/>
                <a:solidFill>
                  <a:srgbClr val="FFFFFF"/>
                </a:solidFill>
                <a:latin typeface="Arial"/>
                <a:ea typeface="Arial"/>
              </a:rPr>
              <a:t>03.</a:t>
            </a:r>
            <a:endParaRPr lang="en-US" sz="1100"/>
          </a:p>
        </p:txBody>
      </p:sp>
      <p:sp>
        <p:nvSpPr>
          <p:cNvPr name="Freeform 17" id="17"/>
          <p:cNvSpPr/>
          <p:nvPr/>
        </p:nvSpPr>
        <p:spPr>
          <a:xfrm>
            <a:off x="2664036" y="1984917"/>
            <a:ext cx="1145254" cy="646771"/>
          </a:xfrm>
          <a:custGeom>
            <a:avLst/>
            <a:gdLst/>
            <a:ahLst/>
            <a:cxnLst/>
            <a:rect r="r" b="b" t="t" l="l"/>
            <a:pathLst>
              <a:path w="1996068" h="646771" stroke="true" fill="norm" extrusionOk="true">
                <a:moveTo>
                  <a:pt x="0" y="646771"/>
                </a:moveTo>
                <a:lnTo>
                  <a:pt x="490654" y="0"/>
                </a:lnTo>
                <a:lnTo>
                  <a:pt x="1996068" y="0"/>
                </a:lnTo>
              </a:path>
            </a:pathLst>
          </a:custGeom>
          <a:ln w="9525" cap="flat" cmpd="sng">
            <a:solidFill>
              <a:srgbClr val="FFFFFF">
                <a:alpha val="40000"/>
                <a:lumMod val="50000"/>
                <a:lumOff val="50000"/>
              </a:srgbClr>
            </a:solidFill>
            <a:prstDash val="solid"/>
            <a:tailEnd w="lg" type="arrow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18" id="18"/>
          <p:cNvSpPr/>
          <p:nvPr/>
        </p:nvSpPr>
        <p:spPr>
          <a:xfrm flipV="true">
            <a:off x="2664036" y="4367030"/>
            <a:ext cx="1145254" cy="984308"/>
          </a:xfrm>
          <a:custGeom>
            <a:avLst/>
            <a:gdLst/>
            <a:ahLst/>
            <a:cxnLst/>
            <a:rect r="r" b="b" t="t" l="l"/>
            <a:pathLst>
              <a:path w="1996068" h="646771" stroke="true" fill="norm" extrusionOk="true">
                <a:moveTo>
                  <a:pt x="0" y="646771"/>
                </a:moveTo>
                <a:lnTo>
                  <a:pt x="490654" y="0"/>
                </a:lnTo>
                <a:lnTo>
                  <a:pt x="1996068" y="0"/>
                </a:lnTo>
              </a:path>
            </a:pathLst>
          </a:custGeom>
          <a:ln w="9525" cap="flat" cmpd="sng">
            <a:solidFill>
              <a:srgbClr val="FFFFFF">
                <a:alpha val="40000"/>
                <a:lumMod val="50000"/>
                <a:lumOff val="50000"/>
              </a:srgbClr>
            </a:solidFill>
            <a:prstDash val="solid"/>
            <a:tailEnd w="lg" type="arrow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19" id="19"/>
          <p:cNvSpPr/>
          <p:nvPr/>
        </p:nvSpPr>
        <p:spPr>
          <a:xfrm>
            <a:off x="688874" y="10239"/>
            <a:ext cx="10858500" cy="1028700"/>
          </a:xfrm>
          <a:prstGeom prst="rect">
            <a:avLst/>
          </a:prstGeom>
        </p:spPr>
        <p:txBody>
          <a:bodyPr vert="horz" anchor="b" tIns="45720" lIns="91440" bIns="45720" rIns="91440">
            <a:normAutofit/>
          </a:bodyPr>
          <a:p>
            <a:pPr algn="l" marL="0">
              <a:lnSpc>
                <a:spcPct val="90000"/>
              </a:lnSpc>
              <a:spcBef>
                <a:spcPct val="0"/>
              </a:spcBef>
            </a:pPr>
            <a:r>
              <a:rPr lang="zh-CN" b="true" i="false" sz="3200" baseline="0" u="none" altLang="en-US">
                <a:solidFill>
                  <a:srgbClr val="FFFFFF"/>
                </a:solidFill>
                <a:latin typeface="+mn-ea"/>
                <a:ea typeface="+mn-ea"/>
              </a:rPr>
              <a:t>任务分解策略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2F2F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688874" y="10239"/>
            <a:ext cx="10858500" cy="1028700"/>
          </a:xfrm>
          <a:prstGeom prst="rect">
            <a:avLst/>
          </a:prstGeom>
        </p:spPr>
        <p:txBody>
          <a:bodyPr vert="horz" anchor="b" tIns="45720" lIns="91440" bIns="45720" rIns="91440">
            <a:normAutofit/>
          </a:bodyPr>
          <a:p>
            <a:pPr algn="l" marL="0">
              <a:lnSpc>
                <a:spcPct val="90000"/>
              </a:lnSpc>
              <a:spcBef>
                <a:spcPct val="0"/>
              </a:spcBef>
            </a:pPr>
            <a:r>
              <a:rPr lang="en-US" b="true" i="false" sz="3200" baseline="0" u="none">
                <a:solidFill>
                  <a:srgbClr val="FFFFFF"/>
                </a:solidFill>
                <a:latin typeface="+mn-ea"/>
                <a:ea typeface="+mn-ea"/>
              </a:rPr>
              <a:t> </a:t>
            </a:r>
          </a:p>
        </p:txBody>
      </p:sp>
      <p:sp>
        <p:nvSpPr>
          <p:cNvPr name="Freeform 3" id="3"/>
          <p:cNvSpPr/>
          <p:nvPr/>
        </p:nvSpPr>
        <p:spPr>
          <a:xfrm flipH="true">
            <a:off x="6335992" y="1195819"/>
            <a:ext cx="5954593" cy="4901971"/>
          </a:xfrm>
          <a:custGeom>
            <a:avLst/>
            <a:gdLst/>
            <a:ahLst/>
            <a:cxnLst/>
            <a:rect r="r" b="b" t="t" l="l"/>
            <a:pathLst>
              <a:path w="4326814" h="3561942" stroke="true" fill="norm" extrusionOk="true">
                <a:moveTo>
                  <a:pt x="3064916" y="540547"/>
                </a:moveTo>
                <a:cubicBezTo>
                  <a:pt x="1907660" y="635795"/>
                  <a:pt x="1682096" y="527365"/>
                  <a:pt x="1319825" y="166854"/>
                </a:cubicBezTo>
                <a:cubicBezTo>
                  <a:pt x="894105" y="-256752"/>
                  <a:pt x="150996" y="188238"/>
                  <a:pt x="42466" y="810892"/>
                </a:cubicBezTo>
                <a:cubicBezTo>
                  <a:pt x="-214697" y="2286696"/>
                  <a:pt x="725649" y="3405712"/>
                  <a:pt x="2064041" y="3545790"/>
                </a:cubicBezTo>
                <a:cubicBezTo>
                  <a:pt x="3507592" y="3696737"/>
                  <a:pt x="4267859" y="2767561"/>
                  <a:pt x="4323206" y="1867769"/>
                </a:cubicBezTo>
                <a:cubicBezTo>
                  <a:pt x="4372767" y="1066294"/>
                  <a:pt x="3909713" y="470961"/>
                  <a:pt x="3064916" y="540547"/>
                </a:cubicBezTo>
                <a:close/>
              </a:path>
            </a:pathLst>
          </a:custGeom>
          <a:gradFill>
            <a:gsLst>
              <a:gs pos="0">
                <a:srgbClr val="FF424D"/>
              </a:gs>
              <a:gs pos="86000">
                <a:srgbClr val="FF424D">
                  <a:alpha val="0"/>
                </a:srgbClr>
              </a:gs>
            </a:gsLst>
            <a:lin ang="2700000"/>
          </a:gradFill>
          <a:ln cap="flat">
            <a:prstDash val="solid"/>
          </a:ln>
        </p:spPr>
        <p:txBody>
          <a:bodyPr vert="horz" rot="0" anchor="ctr" wrap="square" tIns="45720" lIns="91440" bIns="45720" rIns="91440">
            <a:prstTxWarp prst="textNoShape">
              <a:avLst/>
            </a:prstTxWarp>
            <a:noAutofit/>
          </a:bodyPr>
          <a:p>
            <a:pPr algn="l" marL="0"/>
          </a:p>
        </p:txBody>
      </p:sp>
      <p:sp>
        <p:nvSpPr>
          <p:cNvPr name="AutoShape 4" id="4"/>
          <p:cNvSpPr/>
          <p:nvPr/>
        </p:nvSpPr>
        <p:spPr>
          <a:xfrm>
            <a:off x="10001846" y="4763635"/>
            <a:ext cx="2190154" cy="2110409"/>
          </a:xfrm>
          <a:prstGeom prst="ellipse">
            <a:avLst/>
          </a:prstGeom>
          <a:solidFill>
            <a:srgbClr val="E4E6EA">
              <a:alpha val="20000"/>
            </a:srgbClr>
          </a:solidFill>
          <a:ln cap="flat" cmpd="sng">
            <a:prstDash val="solid"/>
          </a:ln>
        </p:spPr>
        <p:txBody>
          <a:bodyPr vert="horz" rot="0" anchor="t" wrap="squar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  <p:sp>
        <p:nvSpPr>
          <p:cNvPr name="TextBox 5" id="5"/>
          <p:cNvSpPr txBox="true"/>
          <p:nvPr/>
        </p:nvSpPr>
        <p:spPr>
          <a:xfrm flipH="true">
            <a:off x="549849" y="1371100"/>
            <a:ext cx="6349827" cy="1483602"/>
          </a:xfrm>
          <a:prstGeom prst="roundRect">
            <a:avLst/>
          </a:prstGeom>
          <a:solidFill>
            <a:schemeClr val="accent1"/>
          </a:solidFill>
          <a:ln cap="flat" cmpd="sng">
            <a:prstDash val="solid"/>
          </a:ln>
        </p:spPr>
        <p:txBody>
          <a:bodyPr anchor="ctr" rtlCol="false" vert="horz" rot="0" wrap="square" tIns="46800" lIns="180000" bIns="46800" rIns="180000">
            <a:prstTxWarp prst="textNoShape">
              <a:avLst/>
            </a:prstTxWarp>
            <a:noAutofit/>
          </a:bodyPr>
          <a:lstStyle/>
          <a:p>
            <a:pPr algn="l" marL="0">
              <a:lnSpc>
                <a:spcPct val="150000"/>
              </a:lnSpc>
              <a:defRPr/>
            </a:pPr>
            <a:endParaRPr lang="en-US" sz="1100"/>
          </a:p>
        </p:txBody>
      </p:sp>
      <p:grpSp>
        <p:nvGrpSpPr>
          <p:cNvPr name="Group 6" id="6"/>
          <p:cNvGrpSpPr/>
          <p:nvPr/>
        </p:nvGrpSpPr>
        <p:grpSpPr>
          <a:xfrm>
            <a:off x="451264" y="1195819"/>
            <a:ext cx="360001" cy="360000"/>
            <a:chOff x="752447" y="2654991"/>
            <a:chExt cx="360001" cy="360000"/>
          </a:xfrm>
        </p:grpSpPr>
        <p:sp>
          <p:nvSpPr>
            <p:cNvPr name="AutoShape 7" id="7"/>
            <p:cNvSpPr/>
            <p:nvPr/>
          </p:nvSpPr>
          <p:spPr>
            <a:xfrm>
              <a:off x="752447" y="2654991"/>
              <a:ext cx="360001" cy="360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 w="25400" cap="flat" cmpd="sng">
              <a:solidFill>
                <a:srgbClr val="2F2F2F"/>
              </a:solidFill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Freeform 8" id="8"/>
            <p:cNvSpPr/>
            <p:nvPr/>
          </p:nvSpPr>
          <p:spPr>
            <a:xfrm>
              <a:off x="851032" y="2780398"/>
              <a:ext cx="162833" cy="109186"/>
            </a:xfrm>
            <a:custGeom>
              <a:avLst/>
              <a:gdLst/>
              <a:ahLst/>
              <a:cxnLst/>
              <a:rect r="r" b="b" t="t" l="l"/>
              <a:pathLst>
                <a:path w="195399" h="131023" stroke="true" fill="norm" extrusionOk="true">
                  <a:moveTo>
                    <a:pt x="195400" y="0"/>
                  </a:moveTo>
                  <a:lnTo>
                    <a:pt x="64376" y="131023"/>
                  </a:lnTo>
                  <a:lnTo>
                    <a:pt x="0" y="66647"/>
                  </a:lnTo>
                </a:path>
              </a:pathLst>
            </a:custGeom>
            <a:noFill/>
            <a:ln w="25400" cap="flat">
              <a:solidFill>
                <a:srgbClr val="FFFFFF"/>
              </a:solidFill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</p:grpSp>
      <p:sp>
        <p:nvSpPr>
          <p:cNvPr name="TextBox 9" id="9"/>
          <p:cNvSpPr txBox="true"/>
          <p:nvPr/>
        </p:nvSpPr>
        <p:spPr>
          <a:xfrm flipH="true">
            <a:off x="510663" y="5193702"/>
            <a:ext cx="6349827" cy="1483602"/>
          </a:xfrm>
          <a:prstGeom prst="roundRect">
            <a:avLst/>
          </a:prstGeom>
          <a:solidFill>
            <a:srgbClr val="F0F0F0">
              <a:alpha val="15000"/>
            </a:srgbClr>
          </a:solidFill>
          <a:ln cap="flat" cmpd="sng">
            <a:prstDash val="solid"/>
          </a:ln>
        </p:spPr>
        <p:txBody>
          <a:bodyPr anchor="ctr" rtlCol="false" vert="horz" rot="0" wrap="square" tIns="46800" lIns="180000" bIns="46800" rIns="180000">
            <a:prstTxWarp prst="textNoShape">
              <a:avLst/>
            </a:prstTxWarp>
            <a:noAutofit/>
          </a:bodyPr>
          <a:lstStyle/>
          <a:p>
            <a:pPr algn="l" marL="0">
              <a:lnSpc>
                <a:spcPct val="150000"/>
              </a:lnSpc>
              <a:defRPr/>
            </a:pP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>
            <a:off x="412078" y="5018421"/>
            <a:ext cx="360001" cy="360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25400" cap="flat" cmpd="sng">
            <a:solidFill>
              <a:srgbClr val="2F2F2F"/>
            </a:solidFill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11" id="11"/>
          <p:cNvSpPr/>
          <p:nvPr/>
        </p:nvSpPr>
        <p:spPr>
          <a:xfrm>
            <a:off x="510663" y="5143828"/>
            <a:ext cx="162833" cy="109186"/>
          </a:xfrm>
          <a:custGeom>
            <a:avLst/>
            <a:gdLst/>
            <a:ahLst/>
            <a:cxnLst/>
            <a:rect r="r" b="b" t="t" l="l"/>
            <a:pathLst>
              <a:path w="195399" h="131023" stroke="true" fill="norm" extrusionOk="true">
                <a:moveTo>
                  <a:pt x="195400" y="0"/>
                </a:moveTo>
                <a:lnTo>
                  <a:pt x="64376" y="131023"/>
                </a:lnTo>
                <a:lnTo>
                  <a:pt x="0" y="66647"/>
                </a:lnTo>
              </a:path>
            </a:pathLst>
          </a:custGeom>
          <a:noFill/>
          <a:ln w="25400" cap="flat">
            <a:solidFill>
              <a:srgbClr val="FFFFFF"/>
            </a:solidFill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TextBox 12" id="12"/>
          <p:cNvSpPr txBox="true"/>
          <p:nvPr/>
        </p:nvSpPr>
        <p:spPr>
          <a:xfrm flipH="true">
            <a:off x="471473" y="3283893"/>
            <a:ext cx="6349827" cy="1483602"/>
          </a:xfrm>
          <a:prstGeom prst="roundRect">
            <a:avLst/>
          </a:prstGeom>
          <a:solidFill>
            <a:srgbClr val="F0F0F0">
              <a:alpha val="15000"/>
            </a:srgbClr>
          </a:solidFill>
          <a:ln cap="flat" cmpd="sng">
            <a:prstDash val="solid"/>
          </a:ln>
        </p:spPr>
        <p:txBody>
          <a:bodyPr anchor="ctr" rtlCol="false" vert="horz" rot="0" wrap="square" tIns="46800" lIns="180000" bIns="46800" rIns="180000">
            <a:prstTxWarp prst="textNoShape">
              <a:avLst/>
            </a:prstTxWarp>
            <a:noAutofit/>
          </a:bodyPr>
          <a:lstStyle/>
          <a:p>
            <a:pPr algn="l" marL="0">
              <a:lnSpc>
                <a:spcPct val="150000"/>
              </a:lnSpc>
              <a:defRPr/>
            </a:pPr>
            <a:endParaRPr lang="en-US" sz="1100"/>
          </a:p>
        </p:txBody>
      </p:sp>
      <p:grpSp>
        <p:nvGrpSpPr>
          <p:cNvPr name="Group 13" id="13"/>
          <p:cNvGrpSpPr/>
          <p:nvPr/>
        </p:nvGrpSpPr>
        <p:grpSpPr>
          <a:xfrm>
            <a:off x="372888" y="3108612"/>
            <a:ext cx="360001" cy="360000"/>
            <a:chOff x="752447" y="2654991"/>
            <a:chExt cx="360001" cy="360000"/>
          </a:xfrm>
        </p:grpSpPr>
        <p:sp>
          <p:nvSpPr>
            <p:cNvPr name="AutoShape 14" id="14"/>
            <p:cNvSpPr/>
            <p:nvPr/>
          </p:nvSpPr>
          <p:spPr>
            <a:xfrm>
              <a:off x="752447" y="2654991"/>
              <a:ext cx="360001" cy="360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 w="25400" cap="flat" cmpd="sng">
              <a:solidFill>
                <a:srgbClr val="2F2F2F"/>
              </a:solidFill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Freeform 15" id="15"/>
            <p:cNvSpPr/>
            <p:nvPr/>
          </p:nvSpPr>
          <p:spPr>
            <a:xfrm>
              <a:off x="851032" y="2780398"/>
              <a:ext cx="162833" cy="109186"/>
            </a:xfrm>
            <a:custGeom>
              <a:avLst/>
              <a:gdLst/>
              <a:ahLst/>
              <a:cxnLst/>
              <a:rect r="r" b="b" t="t" l="l"/>
              <a:pathLst>
                <a:path w="195399" h="131023" stroke="true" fill="norm" extrusionOk="true">
                  <a:moveTo>
                    <a:pt x="195400" y="0"/>
                  </a:moveTo>
                  <a:lnTo>
                    <a:pt x="64376" y="131023"/>
                  </a:lnTo>
                  <a:lnTo>
                    <a:pt x="0" y="66647"/>
                  </a:lnTo>
                </a:path>
              </a:pathLst>
            </a:custGeom>
            <a:noFill/>
            <a:ln w="25400" cap="flat">
              <a:solidFill>
                <a:srgbClr val="FFFFFF"/>
              </a:solidFill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</p:grpSp>
      <p:sp>
        <p:nvSpPr>
          <p:cNvPr name="AutoShape 16" id="16"/>
          <p:cNvSpPr/>
          <p:nvPr/>
        </p:nvSpPr>
        <p:spPr>
          <a:xfrm flipH="true">
            <a:off x="811266" y="1710984"/>
            <a:ext cx="5850792" cy="501328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108000" lIns="108000" bIns="108000" rIns="10800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Arial"/>
                <a:ea typeface="Arial"/>
              </a:rPr>
              <a:t>#####</a:t>
            </a:r>
          </a:p>
        </p:txBody>
      </p:sp>
      <p:sp>
        <p:nvSpPr>
          <p:cNvPr name="AutoShape 17" id="17"/>
          <p:cNvSpPr/>
          <p:nvPr/>
        </p:nvSpPr>
        <p:spPr>
          <a:xfrm flipH="true">
            <a:off x="811265" y="1361052"/>
            <a:ext cx="5850792" cy="427979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90000" lIns="91440" bIns="90000" rIns="91440">
            <a:spAutoFit/>
          </a:bodyPr>
          <a:p>
            <a:pPr algn="l" marL="0"/>
            <a:r>
              <a:rPr lang="zh-CN" b="true" i="false" sz="1600" baseline="0" u="none" altLang="en-US">
                <a:solidFill>
                  <a:srgbClr val="FFFFFF"/>
                </a:solidFill>
                <a:latin typeface="Arial"/>
                <a:ea typeface="Arial"/>
              </a:rPr>
              <a:t> </a:t>
            </a:r>
          </a:p>
        </p:txBody>
      </p:sp>
      <p:sp>
        <p:nvSpPr>
          <p:cNvPr name="AutoShape 18" id="18"/>
          <p:cNvSpPr/>
          <p:nvPr/>
        </p:nvSpPr>
        <p:spPr>
          <a:xfrm flipH="true">
            <a:off x="772076" y="3638007"/>
            <a:ext cx="5850792" cy="501328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108000" lIns="108000" bIns="108000" rIns="10800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Arial"/>
                <a:ea typeface="Arial"/>
              </a:rPr>
              <a:t>#####</a:t>
            </a:r>
          </a:p>
        </p:txBody>
      </p:sp>
      <p:sp>
        <p:nvSpPr>
          <p:cNvPr name="AutoShape 19" id="19"/>
          <p:cNvSpPr/>
          <p:nvPr/>
        </p:nvSpPr>
        <p:spPr>
          <a:xfrm flipH="true">
            <a:off x="772075" y="3288075"/>
            <a:ext cx="5850792" cy="427979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90000" lIns="91440" bIns="90000" rIns="91440">
            <a:spAutoFit/>
          </a:bodyPr>
          <a:p>
            <a:pPr algn="l" marL="0"/>
            <a:r>
              <a:rPr lang="zh-CN" b="true" i="false" sz="1600" baseline="0" u="none" altLang="en-US">
                <a:solidFill>
                  <a:srgbClr val="FFFFFF"/>
                </a:solidFill>
                <a:latin typeface="Arial"/>
                <a:ea typeface="Arial"/>
              </a:rPr>
              <a:t> </a:t>
            </a:r>
          </a:p>
        </p:txBody>
      </p:sp>
      <p:sp>
        <p:nvSpPr>
          <p:cNvPr name="AutoShape 20" id="20"/>
          <p:cNvSpPr/>
          <p:nvPr/>
        </p:nvSpPr>
        <p:spPr>
          <a:xfrm flipH="true">
            <a:off x="811265" y="5554818"/>
            <a:ext cx="5850792" cy="501328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108000" lIns="108000" bIns="108000" rIns="10800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Arial"/>
                <a:ea typeface="Arial"/>
              </a:rPr>
              <a:t>#####</a:t>
            </a:r>
          </a:p>
        </p:txBody>
      </p:sp>
      <p:sp>
        <p:nvSpPr>
          <p:cNvPr name="AutoShape 21" id="21"/>
          <p:cNvSpPr/>
          <p:nvPr/>
        </p:nvSpPr>
        <p:spPr>
          <a:xfrm flipH="true">
            <a:off x="811264" y="5204886"/>
            <a:ext cx="5850792" cy="427979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90000" lIns="91440" bIns="90000" rIns="91440">
            <a:spAutoFit/>
          </a:bodyPr>
          <a:p>
            <a:pPr algn="l" marL="0"/>
            <a:r>
              <a:rPr lang="zh-CN" b="true" i="false" sz="1600" baseline="0" u="none" altLang="en-US">
                <a:solidFill>
                  <a:srgbClr val="FFFFFF"/>
                </a:solidFill>
                <a:latin typeface="Arial"/>
                <a:ea typeface="Arial"/>
              </a:rPr>
              <a:t> 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2F2F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1849031" y="1440077"/>
            <a:ext cx="2592340" cy="1857726"/>
          </a:xfrm>
        </p:spPr>
        <p:txBody>
          <a:bodyPr vert="horz" anchor="b" tIns="45720" lIns="91440" bIns="45720" rIns="91440">
            <a:no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b="true" i="false" sz="11500" baseline="0" u="none">
                <a:solidFill>
                  <a:srgbClr val="FFFFFF"/>
                </a:solidFill>
                <a:latin typeface="+mn-ea"/>
                <a:ea typeface="+mn-ea"/>
              </a:rPr>
              <a:t>05</a:t>
            </a:r>
          </a:p>
        </p:txBody>
      </p:sp>
      <p:sp>
        <p:nvSpPr>
          <p:cNvPr name="AutoShape 3" id="3"/>
          <p:cNvSpPr/>
          <p:nvPr>
            <p:ph type="body" idx="1"/>
          </p:nvPr>
        </p:nvSpPr>
        <p:spPr>
          <a:xfrm>
            <a:off x="2011218" y="3362633"/>
            <a:ext cx="4677176" cy="554960"/>
          </a:xfrm>
        </p:spPr>
        <p:txBody>
          <a:bodyPr vert="horz" anchor="t" tIns="45720" lIns="91440" bIns="45720" rIns="91440">
            <a:normAutofit/>
          </a:bodyPr>
          <a:p>
            <a:pPr algn="l" indent="0" marL="0">
              <a:lnSpc>
                <a:spcPct val="90000"/>
              </a:lnSpc>
              <a:spcBef>
                <a:spcPts val="1000"/>
              </a:spcBef>
            </a:pPr>
            <a:r>
              <a:rPr lang="zh-CN" b="true" i="false" sz="18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实验结果与分析</a:t>
            </a:r>
          </a:p>
        </p:txBody>
      </p:sp>
      <p:cxnSp>
        <p:nvCxnSpPr>
          <p:cNvPr name="Connector 4" id="4"/>
          <p:cNvCxnSpPr/>
          <p:nvPr/>
        </p:nvCxnSpPr>
        <p:spPr>
          <a:xfrm>
            <a:off x="2114437" y="4029968"/>
            <a:ext cx="535781" cy="0"/>
          </a:xfrm>
          <a:prstGeom prst="line">
            <a:avLst/>
          </a:prstGeom>
          <a:ln w="6350" cap="flat" cmpd="sng">
            <a:solidFill>
              <a:srgbClr val="FFFFFF"/>
            </a:solidFill>
            <a:prstDash val="solid"/>
          </a:ln>
        </p:spPr>
      </p:cxn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2F2F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688874" y="10239"/>
            <a:ext cx="10858500" cy="1028700"/>
          </a:xfrm>
          <a:prstGeom prst="rect">
            <a:avLst/>
          </a:prstGeom>
        </p:spPr>
        <p:txBody>
          <a:bodyPr vert="horz" anchor="b" tIns="45720" lIns="91440" bIns="45720" rIns="91440">
            <a:normAutofit/>
          </a:bodyPr>
          <a:p>
            <a:pPr algn="l" marL="0">
              <a:lnSpc>
                <a:spcPct val="90000"/>
              </a:lnSpc>
              <a:spcBef>
                <a:spcPct val="0"/>
              </a:spcBef>
            </a:pPr>
            <a:r>
              <a:rPr lang="zh-CN" b="true" i="false" sz="3200" baseline="0" u="none" altLang="en-US">
                <a:solidFill>
                  <a:srgbClr val="FFFFFF"/>
                </a:solidFill>
                <a:latin typeface="+mn-ea"/>
                <a:ea typeface="+mn-ea"/>
              </a:rPr>
              <a:t>不同线程数的性能对比</a:t>
            </a:r>
          </a:p>
        </p:txBody>
      </p:sp>
      <p:sp>
        <p:nvSpPr>
          <p:cNvPr name="AutoShape 3" id="3"/>
          <p:cNvSpPr/>
          <p:nvPr/>
        </p:nvSpPr>
        <p:spPr>
          <a:xfrm>
            <a:off x="870246" y="1372863"/>
            <a:ext cx="3143476" cy="1784081"/>
          </a:xfrm>
          <a:prstGeom prst="rect">
            <a:avLst/>
          </a:prstGeom>
          <a:pattFill prst="pct5">
            <a:fgClr>
              <a:schemeClr val="tx2">
                <a:lumMod val="20000"/>
                <a:lumOff val="80000"/>
              </a:schemeClr>
            </a:fgClr>
            <a:bgClr>
              <a:schemeClr val="tx2">
                <a:lumMod val="60000"/>
                <a:lumOff val="40000"/>
              </a:schemeClr>
            </a:bgClr>
          </a:pattFill>
          <a:ln cap="flat" cmpd="sng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4" id="4"/>
          <p:cNvSpPr/>
          <p:nvPr/>
        </p:nvSpPr>
        <p:spPr>
          <a:xfrm flipV="true">
            <a:off x="870246" y="3156942"/>
            <a:ext cx="3143476" cy="2677800"/>
          </a:xfrm>
          <a:prstGeom prst="rect">
            <a:avLst/>
          </a:prstGeom>
          <a:solidFill>
            <a:srgbClr val="F0F0F0">
              <a:alpha val="15000"/>
            </a:srgbClr>
          </a:solidFill>
          <a:ln cap="flat" cmpd="sng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TextBox 5" id="5"/>
          <p:cNvSpPr txBox="true"/>
          <p:nvPr/>
        </p:nvSpPr>
        <p:spPr>
          <a:xfrm>
            <a:off x="2190577" y="2886661"/>
            <a:ext cx="540000" cy="540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anchor="ctr" rtlCol="false" vert="horz" wrap="none" tIns="45720" lIns="91440" bIns="45720" rIns="91440">
            <a:noAutofit/>
          </a:bodyPr>
          <a:lstStyle/>
          <a:p>
            <a:pPr algn="ctr" marL="0">
              <a:defRPr/>
            </a:pPr>
            <a:r>
              <a:rPr lang="en-US" b="true" i="false" sz="2000" baseline="0" u="none">
                <a:solidFill>
                  <a:srgbClr val="FFFFFF"/>
                </a:solidFill>
                <a:latin typeface="Arial"/>
                <a:ea typeface="Arial"/>
              </a:rPr>
              <a:t>01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>
            <a:off x="4621890" y="1372863"/>
            <a:ext cx="3143476" cy="1784081"/>
          </a:xfrm>
          <a:prstGeom prst="rect">
            <a:avLst/>
          </a:prstGeom>
          <a:pattFill prst="pct5">
            <a:fgClr>
              <a:schemeClr val="tx2">
                <a:lumMod val="20000"/>
                <a:lumOff val="80000"/>
              </a:schemeClr>
            </a:fgClr>
            <a:bgClr>
              <a:schemeClr val="tx2">
                <a:lumMod val="60000"/>
                <a:lumOff val="40000"/>
              </a:schemeClr>
            </a:bgClr>
          </a:pattFill>
          <a:ln cap="flat" cmpd="sng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7" id="7"/>
          <p:cNvSpPr/>
          <p:nvPr/>
        </p:nvSpPr>
        <p:spPr>
          <a:xfrm flipV="true">
            <a:off x="4621890" y="3156942"/>
            <a:ext cx="3143476" cy="2677800"/>
          </a:xfrm>
          <a:prstGeom prst="rect">
            <a:avLst/>
          </a:prstGeom>
          <a:solidFill>
            <a:srgbClr val="F0F0F0">
              <a:alpha val="15000"/>
            </a:srgbClr>
          </a:solidFill>
          <a:ln cap="flat" cmpd="sng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TextBox 8" id="8"/>
          <p:cNvSpPr txBox="true"/>
          <p:nvPr/>
        </p:nvSpPr>
        <p:spPr>
          <a:xfrm>
            <a:off x="5933905" y="2886661"/>
            <a:ext cx="540000" cy="5400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  <p:txBody>
          <a:bodyPr anchor="ctr" rtlCol="false" vert="horz" wrap="none" tIns="45720" lIns="91440" bIns="45720" rIns="91440">
            <a:noAutofit/>
          </a:bodyPr>
          <a:lstStyle/>
          <a:p>
            <a:pPr algn="ctr" marL="0">
              <a:defRPr/>
            </a:pPr>
            <a:r>
              <a:rPr lang="en-US" b="true" i="false" sz="2000" baseline="0" u="none">
                <a:solidFill>
                  <a:srgbClr val="FFFFFF"/>
                </a:solidFill>
                <a:latin typeface="Arial"/>
                <a:ea typeface="Arial"/>
              </a:rPr>
              <a:t>02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>
            <a:off x="8169962" y="1372863"/>
            <a:ext cx="3143476" cy="1784081"/>
          </a:xfrm>
          <a:prstGeom prst="rect">
            <a:avLst/>
          </a:prstGeom>
          <a:pattFill prst="pct5">
            <a:fgClr>
              <a:schemeClr val="tx2">
                <a:lumMod val="20000"/>
                <a:lumOff val="80000"/>
              </a:schemeClr>
            </a:fgClr>
            <a:bgClr>
              <a:schemeClr val="tx2">
                <a:lumMod val="60000"/>
                <a:lumOff val="40000"/>
              </a:schemeClr>
            </a:bgClr>
          </a:pattFill>
          <a:ln cap="flat" cmpd="sng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10" id="10"/>
          <p:cNvSpPr/>
          <p:nvPr/>
        </p:nvSpPr>
        <p:spPr>
          <a:xfrm flipV="true">
            <a:off x="8169962" y="3156942"/>
            <a:ext cx="3143476" cy="2677800"/>
          </a:xfrm>
          <a:prstGeom prst="rect">
            <a:avLst/>
          </a:prstGeom>
          <a:solidFill>
            <a:srgbClr val="F0F0F0">
              <a:alpha val="15000"/>
            </a:srgbClr>
          </a:solidFill>
          <a:ln cap="flat" cmpd="sng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TextBox 11" id="11"/>
          <p:cNvSpPr txBox="true"/>
          <p:nvPr/>
        </p:nvSpPr>
        <p:spPr>
          <a:xfrm>
            <a:off x="9481977" y="2872656"/>
            <a:ext cx="540000" cy="5400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</p:spPr>
        <p:txBody>
          <a:bodyPr anchor="ctr" rtlCol="false" vert="horz" wrap="none" tIns="45720" lIns="91440" bIns="45720" rIns="91440">
            <a:noAutofit/>
          </a:bodyPr>
          <a:lstStyle/>
          <a:p>
            <a:pPr algn="ctr" marL="0">
              <a:defRPr/>
            </a:pPr>
            <a:r>
              <a:rPr lang="en-US" b="true" i="false" sz="2000" baseline="0" u="none">
                <a:solidFill>
                  <a:srgbClr val="FFFFFF"/>
                </a:solidFill>
                <a:latin typeface="Arial"/>
                <a:ea typeface="Arial"/>
              </a:rPr>
              <a:t>03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>
            <a:off x="997699" y="1919431"/>
            <a:ext cx="2824586" cy="464331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108000" lIns="108000" bIns="108000" rIns="108000">
            <a:spAutoFit/>
          </a:bodyPr>
          <a:p>
            <a:pPr algn="ctr" marL="0"/>
            <a:r>
              <a:rPr lang="zh-CN" b="true" i="false" sz="1600" baseline="0" u="none" altLang="en-US">
                <a:solidFill>
                  <a:srgbClr val="2F2F2F"/>
                </a:solidFill>
                <a:latin typeface="+mn-ea"/>
                <a:ea typeface="+mn-ea"/>
              </a:rPr>
              <a:t>测试方法</a:t>
            </a:r>
          </a:p>
        </p:txBody>
      </p:sp>
      <p:sp>
        <p:nvSpPr>
          <p:cNvPr name="AutoShape 13" id="13"/>
          <p:cNvSpPr/>
          <p:nvPr/>
        </p:nvSpPr>
        <p:spPr>
          <a:xfrm>
            <a:off x="997699" y="3659843"/>
            <a:ext cx="2824586" cy="749089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108000" lIns="108000" bIns="108000" rIns="108000">
            <a:spAutoFit/>
          </a:bodyPr>
          <a:p>
            <a:pPr algn="l" marL="0">
              <a:lnSpc>
                <a:spcPct val="130000"/>
              </a:lnSpc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+mn-ea"/>
                <a:ea typeface="+mn-ea"/>
              </a:rPr>
              <a:t>分别测试不同线程数下的求和性能，记录计算耗时。</a:t>
            </a:r>
          </a:p>
        </p:txBody>
      </p:sp>
      <p:sp>
        <p:nvSpPr>
          <p:cNvPr name="AutoShape 14" id="14"/>
          <p:cNvSpPr/>
          <p:nvPr/>
        </p:nvSpPr>
        <p:spPr>
          <a:xfrm>
            <a:off x="4831320" y="1986629"/>
            <a:ext cx="2824586" cy="464331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108000" lIns="108000" bIns="108000" rIns="108000">
            <a:spAutoFit/>
          </a:bodyPr>
          <a:p>
            <a:pPr algn="ctr" marL="0"/>
            <a:r>
              <a:rPr lang="zh-CN" b="true" i="false" sz="1600" baseline="0" u="none" altLang="en-US">
                <a:solidFill>
                  <a:srgbClr val="2F2F2F"/>
                </a:solidFill>
                <a:latin typeface="+mn-ea"/>
                <a:ea typeface="+mn-ea"/>
              </a:rPr>
              <a:t>实验结果</a:t>
            </a:r>
          </a:p>
        </p:txBody>
      </p:sp>
      <p:sp>
        <p:nvSpPr>
          <p:cNvPr name="AutoShape 15" id="15"/>
          <p:cNvSpPr/>
          <p:nvPr/>
        </p:nvSpPr>
        <p:spPr>
          <a:xfrm>
            <a:off x="4831320" y="3727041"/>
            <a:ext cx="2824586" cy="749089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108000" lIns="108000" bIns="108000" rIns="108000">
            <a:spAutoFit/>
          </a:bodyPr>
          <a:p>
            <a:pPr algn="l" marL="0">
              <a:lnSpc>
                <a:spcPct val="130000"/>
              </a:lnSpc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+mn-ea"/>
                <a:ea typeface="+mn-ea"/>
              </a:rPr>
              <a:t>绘制性能曲线，分析线程数与性能的关系。</a:t>
            </a:r>
          </a:p>
        </p:txBody>
      </p:sp>
      <p:sp>
        <p:nvSpPr>
          <p:cNvPr name="AutoShape 16" id="16"/>
          <p:cNvSpPr/>
          <p:nvPr/>
        </p:nvSpPr>
        <p:spPr>
          <a:xfrm>
            <a:off x="8361006" y="1986629"/>
            <a:ext cx="2824586" cy="464331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108000" lIns="108000" bIns="108000" rIns="108000">
            <a:spAutoFit/>
          </a:bodyPr>
          <a:p>
            <a:pPr algn="ctr" marL="0"/>
            <a:r>
              <a:rPr lang="zh-CN" b="true" i="false" sz="1600" baseline="0" u="none" altLang="en-US">
                <a:solidFill>
                  <a:srgbClr val="2F2F2F"/>
                </a:solidFill>
                <a:latin typeface="+mn-ea"/>
                <a:ea typeface="+mn-ea"/>
              </a:rPr>
              <a:t>结果分析</a:t>
            </a:r>
          </a:p>
        </p:txBody>
      </p:sp>
      <p:sp>
        <p:nvSpPr>
          <p:cNvPr name="AutoShape 17" id="17"/>
          <p:cNvSpPr/>
          <p:nvPr/>
        </p:nvSpPr>
        <p:spPr>
          <a:xfrm>
            <a:off x="8361006" y="3727041"/>
            <a:ext cx="2824586" cy="749089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108000" lIns="108000" bIns="108000" rIns="108000">
            <a:spAutoFit/>
          </a:bodyPr>
          <a:p>
            <a:pPr algn="l" marL="0">
              <a:lnSpc>
                <a:spcPct val="130000"/>
              </a:lnSpc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+mn-ea"/>
                <a:ea typeface="+mn-ea"/>
              </a:rPr>
              <a:t>找到最佳线程数，并分析其原因。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2F2F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4216919" y="1849534"/>
            <a:ext cx="6037555" cy="102374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rgbClr val="FFFFFF">
                    <a:alpha val="80000"/>
                    <a:lumMod val="95000"/>
                    <a:lumOff val="5000"/>
                  </a:srgbClr>
                </a:solidFill>
                <a:latin typeface="+mn-ea"/>
                <a:ea typeface="+mn-ea"/>
              </a:rPr>
              <a:t>分别测试优化前后的求和性能，记录计算耗时。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4199699" y="1494247"/>
            <a:ext cx="6057803" cy="418191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true" i="false" sz="1600" baseline="0" u="none" altLang="en-US">
                <a:solidFill>
                  <a:srgbClr val="FFFFFF"/>
                </a:solidFill>
                <a:latin typeface="+mn-ea"/>
                <a:ea typeface="+mn-ea"/>
              </a:rPr>
              <a:t>测试方法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4216919" y="3349620"/>
            <a:ext cx="6037555" cy="102374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rgbClr val="FFFFFF">
                    <a:alpha val="80000"/>
                    <a:lumMod val="95000"/>
                    <a:lumOff val="5000"/>
                  </a:srgbClr>
                </a:solidFill>
                <a:latin typeface="+mn-ea"/>
                <a:ea typeface="+mn-ea"/>
              </a:rPr>
              <a:t>对比优化前后的性能提升，并分析其原因。</a:t>
            </a:r>
            <a:endParaRPr lang="en-US" sz="1100"/>
          </a:p>
        </p:txBody>
      </p:sp>
      <p:sp>
        <p:nvSpPr>
          <p:cNvPr name="TextBox 5" id="5"/>
          <p:cNvSpPr txBox="true"/>
          <p:nvPr/>
        </p:nvSpPr>
        <p:spPr>
          <a:xfrm>
            <a:off x="4199699" y="2994333"/>
            <a:ext cx="6057803" cy="418191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true" i="false" sz="1600" baseline="0" u="none" altLang="en-US">
                <a:solidFill>
                  <a:srgbClr val="FFFFFF"/>
                </a:solidFill>
                <a:latin typeface="+mn-ea"/>
                <a:ea typeface="+mn-ea"/>
              </a:rPr>
              <a:t>实验结果</a:t>
            </a:r>
            <a:endParaRPr lang="en-US" sz="1100"/>
          </a:p>
        </p:txBody>
      </p:sp>
      <p:sp>
        <p:nvSpPr>
          <p:cNvPr name="TextBox 6" id="6"/>
          <p:cNvSpPr txBox="true"/>
          <p:nvPr/>
        </p:nvSpPr>
        <p:spPr>
          <a:xfrm>
            <a:off x="4216919" y="4849706"/>
            <a:ext cx="6037555" cy="102374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rgbClr val="FFFFFF">
                    <a:alpha val="80000"/>
                    <a:lumMod val="95000"/>
                    <a:lumOff val="5000"/>
                  </a:srgbClr>
                </a:solidFill>
                <a:latin typeface="+mn-ea"/>
                <a:ea typeface="+mn-ea"/>
              </a:rPr>
              <a:t>验证优化策略的有效性。</a:t>
            </a:r>
            <a:endParaRPr lang="en-US" sz="1100"/>
          </a:p>
        </p:txBody>
      </p:sp>
      <p:sp>
        <p:nvSpPr>
          <p:cNvPr name="TextBox 7" id="7"/>
          <p:cNvSpPr txBox="true"/>
          <p:nvPr/>
        </p:nvSpPr>
        <p:spPr>
          <a:xfrm>
            <a:off x="4199699" y="4494419"/>
            <a:ext cx="6057803" cy="418191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true" i="false" sz="1600" baseline="0" u="none" altLang="en-US">
                <a:solidFill>
                  <a:srgbClr val="FFFFFF"/>
                </a:solidFill>
                <a:latin typeface="+mn-ea"/>
                <a:ea typeface="+mn-ea"/>
              </a:rPr>
              <a:t>结果分析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>
            <a:off x="3559472" y="1639702"/>
            <a:ext cx="419665" cy="419663"/>
          </a:xfrm>
          <a:prstGeom prst="rect">
            <a:avLst/>
          </a:prstGeom>
          <a:solidFill>
            <a:schemeClr val="accent1"/>
          </a:solidFill>
          <a:ln cap="flat" cmpd="sng">
            <a:prstDash val="solid"/>
          </a:ln>
        </p:spPr>
        <p:txBody>
          <a:bodyPr vert="horz" anchor="ctr" wrap="none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9" id="9"/>
          <p:cNvSpPr/>
          <p:nvPr/>
        </p:nvSpPr>
        <p:spPr>
          <a:xfrm>
            <a:off x="3672203" y="1761106"/>
            <a:ext cx="194198" cy="176858"/>
          </a:xfrm>
          <a:custGeom>
            <a:avLst/>
            <a:gdLst/>
            <a:ahLst/>
            <a:cxnLst/>
            <a:rect r="r" b="b" t="t" l="l"/>
            <a:pathLst>
              <a:path w="533400" h="485775" stroke="true" fill="norm" extrusionOk="true">
                <a:moveTo>
                  <a:pt x="125329" y="229221"/>
                </a:moveTo>
                <a:lnTo>
                  <a:pt x="125329" y="276846"/>
                </a:lnTo>
                <a:lnTo>
                  <a:pt x="144379" y="276846"/>
                </a:lnTo>
                <a:lnTo>
                  <a:pt x="144379" y="229221"/>
                </a:lnTo>
                <a:lnTo>
                  <a:pt x="392029" y="229221"/>
                </a:lnTo>
                <a:lnTo>
                  <a:pt x="392029" y="276846"/>
                </a:lnTo>
                <a:lnTo>
                  <a:pt x="411079" y="276846"/>
                </a:lnTo>
                <a:lnTo>
                  <a:pt x="411079" y="229221"/>
                </a:lnTo>
                <a:lnTo>
                  <a:pt x="534904" y="229221"/>
                </a:lnTo>
                <a:lnTo>
                  <a:pt x="534904" y="486396"/>
                </a:lnTo>
                <a:lnTo>
                  <a:pt x="1504" y="486396"/>
                </a:lnTo>
                <a:lnTo>
                  <a:pt x="1504" y="229221"/>
                </a:lnTo>
                <a:lnTo>
                  <a:pt x="125329" y="229221"/>
                </a:lnTo>
                <a:close/>
                <a:moveTo>
                  <a:pt x="411079" y="621"/>
                </a:moveTo>
                <a:lnTo>
                  <a:pt x="411079" y="114921"/>
                </a:lnTo>
                <a:lnTo>
                  <a:pt x="534904" y="114921"/>
                </a:lnTo>
                <a:lnTo>
                  <a:pt x="534904" y="210171"/>
                </a:lnTo>
                <a:lnTo>
                  <a:pt x="1504" y="210171"/>
                </a:lnTo>
                <a:lnTo>
                  <a:pt x="1504" y="114921"/>
                </a:lnTo>
                <a:lnTo>
                  <a:pt x="125329" y="114921"/>
                </a:lnTo>
                <a:lnTo>
                  <a:pt x="125329" y="621"/>
                </a:lnTo>
                <a:lnTo>
                  <a:pt x="411079" y="621"/>
                </a:lnTo>
                <a:close/>
                <a:moveTo>
                  <a:pt x="392029" y="19671"/>
                </a:moveTo>
                <a:lnTo>
                  <a:pt x="144379" y="19671"/>
                </a:lnTo>
                <a:lnTo>
                  <a:pt x="144379" y="114921"/>
                </a:lnTo>
                <a:lnTo>
                  <a:pt x="392029" y="114921"/>
                </a:lnTo>
                <a:lnTo>
                  <a:pt x="392029" y="19671"/>
                </a:lnTo>
                <a:close/>
              </a:path>
            </a:pathLst>
          </a:custGeom>
          <a:solidFill>
            <a:srgbClr val="FFFFFF"/>
          </a:solidFill>
        </p:spPr>
        <p:txBody>
          <a:bodyPr vert="horz" anchor="t" tIns="45720" lIns="91440" bIns="45720" rIns="91440">
            <a:normAutofit/>
          </a:bodyPr>
          <a:p>
            <a:pPr algn="l" marL="0"/>
          </a:p>
        </p:txBody>
      </p:sp>
      <p:sp>
        <p:nvSpPr>
          <p:cNvPr name="AutoShape 10" id="10"/>
          <p:cNvSpPr/>
          <p:nvPr/>
        </p:nvSpPr>
        <p:spPr>
          <a:xfrm>
            <a:off x="3563714" y="3146984"/>
            <a:ext cx="419665" cy="419663"/>
          </a:xfrm>
          <a:prstGeom prst="rect">
            <a:avLst/>
          </a:prstGeom>
          <a:solidFill>
            <a:schemeClr val="accent1"/>
          </a:solidFill>
          <a:ln cap="flat" cmpd="sng">
            <a:prstDash val="solid"/>
          </a:ln>
        </p:spPr>
        <p:txBody>
          <a:bodyPr vert="horz" anchor="ctr" wrap="none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11" id="11"/>
          <p:cNvSpPr/>
          <p:nvPr/>
        </p:nvSpPr>
        <p:spPr>
          <a:xfrm>
            <a:off x="3674786" y="3248558"/>
            <a:ext cx="197520" cy="216513"/>
          </a:xfrm>
          <a:custGeom>
            <a:avLst/>
            <a:gdLst/>
            <a:ahLst/>
            <a:cxnLst/>
            <a:rect r="r" b="b" t="t" l="l"/>
            <a:pathLst>
              <a:path w="495300" h="542925" stroke="true" fill="norm" extrusionOk="true">
                <a:moveTo>
                  <a:pt x="248770" y="621"/>
                </a:moveTo>
                <a:cubicBezTo>
                  <a:pt x="385549" y="621"/>
                  <a:pt x="496420" y="111492"/>
                  <a:pt x="496420" y="248271"/>
                </a:cubicBezTo>
                <a:cubicBezTo>
                  <a:pt x="496420" y="358856"/>
                  <a:pt x="423935" y="452582"/>
                  <a:pt x="323827" y="484396"/>
                </a:cubicBezTo>
                <a:lnTo>
                  <a:pt x="346973" y="524496"/>
                </a:lnTo>
                <a:lnTo>
                  <a:pt x="420220" y="524496"/>
                </a:lnTo>
                <a:lnTo>
                  <a:pt x="420220" y="543546"/>
                </a:lnTo>
                <a:lnTo>
                  <a:pt x="77320" y="543546"/>
                </a:lnTo>
                <a:lnTo>
                  <a:pt x="77320" y="524496"/>
                </a:lnTo>
                <a:lnTo>
                  <a:pt x="150567" y="524496"/>
                </a:lnTo>
                <a:lnTo>
                  <a:pt x="173713" y="484396"/>
                </a:lnTo>
                <a:cubicBezTo>
                  <a:pt x="73605" y="452582"/>
                  <a:pt x="1120" y="358856"/>
                  <a:pt x="1120" y="248271"/>
                </a:cubicBezTo>
                <a:cubicBezTo>
                  <a:pt x="1120" y="111492"/>
                  <a:pt x="111991" y="621"/>
                  <a:pt x="248770" y="621"/>
                </a:cubicBezTo>
                <a:close/>
                <a:moveTo>
                  <a:pt x="192763" y="489539"/>
                </a:moveTo>
                <a:lnTo>
                  <a:pt x="172570" y="524496"/>
                </a:lnTo>
                <a:lnTo>
                  <a:pt x="324970" y="524496"/>
                </a:lnTo>
                <a:lnTo>
                  <a:pt x="304777" y="489539"/>
                </a:lnTo>
                <a:cubicBezTo>
                  <a:pt x="286775" y="493730"/>
                  <a:pt x="268010" y="495921"/>
                  <a:pt x="248770" y="495921"/>
                </a:cubicBezTo>
                <a:cubicBezTo>
                  <a:pt x="229530" y="495921"/>
                  <a:pt x="210765" y="493730"/>
                  <a:pt x="192763" y="489539"/>
                </a:cubicBezTo>
                <a:close/>
                <a:moveTo>
                  <a:pt x="248770" y="143496"/>
                </a:moveTo>
                <a:cubicBezTo>
                  <a:pt x="190858" y="143496"/>
                  <a:pt x="143995" y="190359"/>
                  <a:pt x="143995" y="248271"/>
                </a:cubicBezTo>
                <a:cubicBezTo>
                  <a:pt x="143995" y="306183"/>
                  <a:pt x="190858" y="353046"/>
                  <a:pt x="248770" y="353046"/>
                </a:cubicBezTo>
                <a:cubicBezTo>
                  <a:pt x="306682" y="353046"/>
                  <a:pt x="353545" y="306183"/>
                  <a:pt x="353545" y="248271"/>
                </a:cubicBezTo>
                <a:cubicBezTo>
                  <a:pt x="353545" y="190359"/>
                  <a:pt x="306682" y="143496"/>
                  <a:pt x="248770" y="143496"/>
                </a:cubicBezTo>
                <a:close/>
                <a:moveTo>
                  <a:pt x="367833" y="114921"/>
                </a:moveTo>
                <a:cubicBezTo>
                  <a:pt x="359927" y="114921"/>
                  <a:pt x="353545" y="121303"/>
                  <a:pt x="353545" y="129209"/>
                </a:cubicBezTo>
                <a:cubicBezTo>
                  <a:pt x="353545" y="137114"/>
                  <a:pt x="359927" y="143496"/>
                  <a:pt x="367833" y="143496"/>
                </a:cubicBezTo>
                <a:cubicBezTo>
                  <a:pt x="375738" y="143496"/>
                  <a:pt x="382120" y="137114"/>
                  <a:pt x="382120" y="129209"/>
                </a:cubicBezTo>
                <a:cubicBezTo>
                  <a:pt x="382120" y="121303"/>
                  <a:pt x="375738" y="114921"/>
                  <a:pt x="367833" y="114921"/>
                </a:cubicBezTo>
                <a:close/>
              </a:path>
            </a:pathLst>
          </a:custGeom>
          <a:solidFill>
            <a:srgbClr val="FFFFFF"/>
          </a:solidFill>
        </p:spPr>
        <p:txBody>
          <a:bodyPr vert="horz" anchor="t" tIns="45720" lIns="91440" bIns="45720" rIns="91440">
            <a:normAutofit/>
          </a:bodyPr>
          <a:p>
            <a:pPr algn="l" marL="0"/>
          </a:p>
        </p:txBody>
      </p:sp>
      <p:sp>
        <p:nvSpPr>
          <p:cNvPr name="AutoShape 12" id="12"/>
          <p:cNvSpPr/>
          <p:nvPr/>
        </p:nvSpPr>
        <p:spPr>
          <a:xfrm>
            <a:off x="3559472" y="4654267"/>
            <a:ext cx="419665" cy="419663"/>
          </a:xfrm>
          <a:prstGeom prst="rect">
            <a:avLst/>
          </a:prstGeom>
          <a:solidFill>
            <a:schemeClr val="accent1"/>
          </a:solidFill>
          <a:ln cap="flat" cmpd="sng">
            <a:prstDash val="solid"/>
          </a:ln>
        </p:spPr>
        <p:txBody>
          <a:bodyPr vert="horz" anchor="ctr" wrap="none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13" id="13"/>
          <p:cNvSpPr/>
          <p:nvPr/>
        </p:nvSpPr>
        <p:spPr>
          <a:xfrm>
            <a:off x="3661341" y="4775162"/>
            <a:ext cx="215926" cy="177367"/>
          </a:xfrm>
          <a:custGeom>
            <a:avLst/>
            <a:gdLst/>
            <a:ahLst/>
            <a:cxnLst/>
            <a:rect r="r" b="b" t="t" l="l"/>
            <a:pathLst>
              <a:path w="533400" h="438150" stroke="true" fill="norm" extrusionOk="true">
                <a:moveTo>
                  <a:pt x="96626" y="133971"/>
                </a:moveTo>
                <a:lnTo>
                  <a:pt x="125201" y="286371"/>
                </a:lnTo>
                <a:lnTo>
                  <a:pt x="410951" y="286371"/>
                </a:lnTo>
                <a:lnTo>
                  <a:pt x="439526" y="133971"/>
                </a:lnTo>
                <a:lnTo>
                  <a:pt x="534776" y="133971"/>
                </a:lnTo>
                <a:lnTo>
                  <a:pt x="515726" y="381621"/>
                </a:lnTo>
                <a:lnTo>
                  <a:pt x="458576" y="381621"/>
                </a:lnTo>
                <a:lnTo>
                  <a:pt x="458576" y="438771"/>
                </a:lnTo>
                <a:lnTo>
                  <a:pt x="439526" y="438771"/>
                </a:lnTo>
                <a:lnTo>
                  <a:pt x="439526" y="381621"/>
                </a:lnTo>
                <a:lnTo>
                  <a:pt x="96626" y="381621"/>
                </a:lnTo>
                <a:lnTo>
                  <a:pt x="96626" y="438771"/>
                </a:lnTo>
                <a:lnTo>
                  <a:pt x="77576" y="438771"/>
                </a:lnTo>
                <a:lnTo>
                  <a:pt x="77576" y="381621"/>
                </a:lnTo>
                <a:lnTo>
                  <a:pt x="20426" y="381621"/>
                </a:lnTo>
                <a:lnTo>
                  <a:pt x="1376" y="133971"/>
                </a:lnTo>
                <a:lnTo>
                  <a:pt x="96626" y="133971"/>
                </a:lnTo>
                <a:close/>
                <a:moveTo>
                  <a:pt x="487151" y="621"/>
                </a:moveTo>
                <a:lnTo>
                  <a:pt x="487151" y="114921"/>
                </a:lnTo>
                <a:lnTo>
                  <a:pt x="425239" y="114921"/>
                </a:lnTo>
                <a:lnTo>
                  <a:pt x="396664" y="267321"/>
                </a:lnTo>
                <a:lnTo>
                  <a:pt x="139489" y="267321"/>
                </a:lnTo>
                <a:lnTo>
                  <a:pt x="110914" y="114921"/>
                </a:lnTo>
                <a:lnTo>
                  <a:pt x="58526" y="114921"/>
                </a:lnTo>
                <a:lnTo>
                  <a:pt x="58526" y="621"/>
                </a:lnTo>
                <a:lnTo>
                  <a:pt x="487151" y="621"/>
                </a:lnTo>
                <a:close/>
              </a:path>
            </a:pathLst>
          </a:custGeom>
          <a:solidFill>
            <a:srgbClr val="FFFFFF"/>
          </a:solidFill>
        </p:spPr>
        <p:txBody>
          <a:bodyPr vert="horz" anchor="t" tIns="45720" lIns="91440" bIns="45720" rIns="91440">
            <a:normAutofit/>
          </a:bodyPr>
          <a:p>
            <a:pPr algn="l" marL="0"/>
          </a:p>
        </p:txBody>
      </p:sp>
      <p:sp>
        <p:nvSpPr>
          <p:cNvPr name="Freeform 14" id="14"/>
          <p:cNvSpPr/>
          <p:nvPr/>
        </p:nvSpPr>
        <p:spPr>
          <a:xfrm>
            <a:off x="2448799" y="3048040"/>
            <a:ext cx="409624" cy="603160"/>
          </a:xfrm>
          <a:custGeom>
            <a:avLst/>
            <a:gdLst/>
            <a:ahLst/>
            <a:cxnLst/>
            <a:rect r="r" b="b" t="t" l="l"/>
            <a:pathLst>
              <a:path w="1217" h="1792" stroke="true" fill="norm" extrusionOk="true">
                <a:moveTo>
                  <a:pt x="12" y="0"/>
                </a:moveTo>
                <a:lnTo>
                  <a:pt x="12" y="1207"/>
                </a:lnTo>
                <a:lnTo>
                  <a:pt x="585" y="1207"/>
                </a:lnTo>
                <a:lnTo>
                  <a:pt x="0" y="1792"/>
                </a:lnTo>
                <a:lnTo>
                  <a:pt x="630" y="1792"/>
                </a:lnTo>
                <a:lnTo>
                  <a:pt x="1217" y="1207"/>
                </a:lnTo>
                <a:lnTo>
                  <a:pt x="1217" y="0"/>
                </a:lnTo>
                <a:lnTo>
                  <a:pt x="12" y="0"/>
                </a:lnTo>
                <a:close/>
              </a:path>
            </a:pathLst>
          </a:custGeom>
          <a:solidFill>
            <a:srgbClr val="FFFFFF"/>
          </a:solidFill>
          <a:ln cap="flat">
            <a:prstDash val="solid"/>
          </a:ln>
        </p:spPr>
        <p:txBody>
          <a:bodyPr vert="horz" rot="0" anchor="ctr" wrap="squar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  <p:sp>
        <p:nvSpPr>
          <p:cNvPr name="Freeform 15" id="15"/>
          <p:cNvSpPr/>
          <p:nvPr/>
        </p:nvSpPr>
        <p:spPr>
          <a:xfrm>
            <a:off x="1934498" y="3048040"/>
            <a:ext cx="409624" cy="603160"/>
          </a:xfrm>
          <a:custGeom>
            <a:avLst/>
            <a:gdLst/>
            <a:ahLst/>
            <a:cxnLst/>
            <a:rect r="r" b="b" t="t" l="l"/>
            <a:pathLst>
              <a:path w="1217" h="1792" stroke="true" fill="norm" extrusionOk="true">
                <a:moveTo>
                  <a:pt x="10" y="0"/>
                </a:moveTo>
                <a:lnTo>
                  <a:pt x="10" y="1207"/>
                </a:lnTo>
                <a:lnTo>
                  <a:pt x="585" y="1207"/>
                </a:lnTo>
                <a:lnTo>
                  <a:pt x="0" y="1792"/>
                </a:lnTo>
                <a:lnTo>
                  <a:pt x="630" y="1792"/>
                </a:lnTo>
                <a:lnTo>
                  <a:pt x="1217" y="1207"/>
                </a:lnTo>
                <a:lnTo>
                  <a:pt x="1217" y="0"/>
                </a:lnTo>
                <a:lnTo>
                  <a:pt x="10" y="0"/>
                </a:lnTo>
                <a:close/>
              </a:path>
            </a:pathLst>
          </a:custGeom>
          <a:solidFill>
            <a:srgbClr val="FFFFFF"/>
          </a:solidFill>
          <a:ln cap="flat">
            <a:prstDash val="solid"/>
          </a:ln>
        </p:spPr>
        <p:txBody>
          <a:bodyPr vert="horz" rot="0" anchor="ctr" wrap="squar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  <p:sp>
        <p:nvSpPr>
          <p:cNvPr name="AutoShape 16" id="16"/>
          <p:cNvSpPr/>
          <p:nvPr/>
        </p:nvSpPr>
        <p:spPr>
          <a:xfrm>
            <a:off x="688874" y="10239"/>
            <a:ext cx="10858500" cy="1028700"/>
          </a:xfrm>
          <a:prstGeom prst="rect">
            <a:avLst/>
          </a:prstGeom>
        </p:spPr>
        <p:txBody>
          <a:bodyPr vert="horz" anchor="b" tIns="45720" lIns="91440" bIns="45720" rIns="91440">
            <a:normAutofit/>
          </a:bodyPr>
          <a:p>
            <a:pPr algn="l" marL="0">
              <a:lnSpc>
                <a:spcPct val="90000"/>
              </a:lnSpc>
              <a:spcBef>
                <a:spcPct val="0"/>
              </a:spcBef>
            </a:pPr>
            <a:r>
              <a:rPr lang="zh-CN" b="true" i="false" sz="3200" baseline="0" u="none" altLang="en-US">
                <a:solidFill>
                  <a:srgbClr val="FFFFFF"/>
                </a:solidFill>
                <a:latin typeface="+mn-ea"/>
                <a:ea typeface="+mn-ea"/>
              </a:rPr>
              <a:t>优化前后的性能对比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2F2F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1849031" y="1440077"/>
            <a:ext cx="2592340" cy="1857726"/>
          </a:xfrm>
        </p:spPr>
        <p:txBody>
          <a:bodyPr vert="horz" anchor="b" tIns="45720" lIns="91440" bIns="45720" rIns="91440">
            <a:no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b="true" i="false" sz="11500" baseline="0" u="none">
                <a:solidFill>
                  <a:srgbClr val="FFFFFF"/>
                </a:solidFill>
                <a:latin typeface="+mn-ea"/>
                <a:ea typeface="+mn-ea"/>
              </a:rPr>
              <a:t>06</a:t>
            </a:r>
          </a:p>
        </p:txBody>
      </p:sp>
      <p:sp>
        <p:nvSpPr>
          <p:cNvPr name="AutoShape 3" id="3"/>
          <p:cNvSpPr/>
          <p:nvPr>
            <p:ph type="body" idx="1"/>
          </p:nvPr>
        </p:nvSpPr>
        <p:spPr>
          <a:xfrm>
            <a:off x="2011218" y="3362633"/>
            <a:ext cx="4677176" cy="554960"/>
          </a:xfrm>
        </p:spPr>
        <p:txBody>
          <a:bodyPr vert="horz" anchor="t" tIns="45720" lIns="91440" bIns="45720" rIns="91440">
            <a:normAutofit/>
          </a:bodyPr>
          <a:p>
            <a:pPr algn="l" indent="0" marL="0">
              <a:lnSpc>
                <a:spcPct val="90000"/>
              </a:lnSpc>
              <a:spcBef>
                <a:spcPts val="1000"/>
              </a:spcBef>
            </a:pPr>
            <a:r>
              <a:rPr lang="zh-CN" b="true" i="false" sz="18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结论与展望</a:t>
            </a:r>
          </a:p>
        </p:txBody>
      </p:sp>
      <p:cxnSp>
        <p:nvCxnSpPr>
          <p:cNvPr name="Connector 4" id="4"/>
          <p:cNvCxnSpPr/>
          <p:nvPr/>
        </p:nvCxnSpPr>
        <p:spPr>
          <a:xfrm>
            <a:off x="2114437" y="4029968"/>
            <a:ext cx="535781" cy="0"/>
          </a:xfrm>
          <a:prstGeom prst="line">
            <a:avLst/>
          </a:prstGeom>
          <a:ln w="6350" cap="flat" cmpd="sng">
            <a:solidFill>
              <a:srgbClr val="FFFFFF"/>
            </a:solidFill>
            <a:prstDash val="solid"/>
          </a:ln>
        </p:spPr>
      </p:cxn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F2F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688874" y="10239"/>
            <a:ext cx="10858500" cy="1028700"/>
          </a:xfrm>
          <a:prstGeom prst="rect">
            <a:avLst/>
          </a:prstGeom>
        </p:spPr>
        <p:txBody>
          <a:bodyPr vert="horz" anchor="b" tIns="45720" lIns="91440" bIns="45720" rIns="91440">
            <a:normAutofit/>
          </a:bodyPr>
          <a:p>
            <a:pPr algn="l" marL="0">
              <a:lnSpc>
                <a:spcPct val="90000"/>
              </a:lnSpc>
              <a:spcBef>
                <a:spcPct val="0"/>
              </a:spcBef>
            </a:pPr>
            <a:r>
              <a:rPr lang="zh-CN" b="true" i="false" sz="3200" baseline="0" u="none" altLang="en-US">
                <a:solidFill>
                  <a:srgbClr val="FFFFFF"/>
                </a:solidFill>
                <a:latin typeface="+mn-ea"/>
                <a:ea typeface="+mn-ea"/>
              </a:rPr>
              <a:t>结论</a:t>
            </a:r>
          </a:p>
        </p:txBody>
      </p:sp>
      <p:sp>
        <p:nvSpPr>
          <p:cNvPr name="AutoShape 3" id="3"/>
          <p:cNvSpPr/>
          <p:nvPr/>
        </p:nvSpPr>
        <p:spPr>
          <a:xfrm>
            <a:off x="688874" y="2905270"/>
            <a:ext cx="3005826" cy="3228830"/>
          </a:xfrm>
          <a:prstGeom prst="rect">
            <a:avLst/>
          </a:prstGeom>
          <a:solidFill>
            <a:srgbClr val="F0F0F0">
              <a:alpha val="15000"/>
            </a:srgbClr>
          </a:solidFill>
          <a:ln cap="flat" cmpd="sng">
            <a:prstDash val="solid"/>
          </a:ln>
        </p:spPr>
        <p:txBody>
          <a:bodyPr vert="horz" anchor="ctr" wrap="square" tIns="45720" lIns="91440" bIns="45720" rIns="91440">
            <a:noAutofit/>
          </a:bodyPr>
          <a:p>
            <a:pPr algn="ctr" marL="0">
              <a:lnSpc>
                <a:spcPct val="130000"/>
              </a:lnSpc>
            </a:pPr>
          </a:p>
        </p:txBody>
      </p:sp>
      <p:sp>
        <p:nvSpPr>
          <p:cNvPr name="AutoShape 4" id="4"/>
          <p:cNvSpPr/>
          <p:nvPr/>
        </p:nvSpPr>
        <p:spPr>
          <a:xfrm>
            <a:off x="916429" y="3706940"/>
            <a:ext cx="2493865" cy="338554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45720" lIns="91440" bIns="45720" rIns="91440">
            <a:spAutoFit/>
          </a:bodyPr>
          <a:p>
            <a:pPr algn="l" marL="0"/>
            <a:r>
              <a:rPr lang="zh-CN" b="true" i="false" sz="1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并行求和的优势</a:t>
            </a:r>
          </a:p>
        </p:txBody>
      </p:sp>
      <p:sp>
        <p:nvSpPr>
          <p:cNvPr name="AutoShape 5" id="5"/>
          <p:cNvSpPr/>
          <p:nvPr/>
        </p:nvSpPr>
        <p:spPr>
          <a:xfrm>
            <a:off x="916429" y="4372016"/>
            <a:ext cx="2492024" cy="1185324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30000"/>
              </a:lnSpc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+mn-ea"/>
                <a:ea typeface="+mn-ea"/>
              </a:rPr>
              <a:t>多线程并行求和可以充分利用多核CPU，显著提高计算效率。</a:t>
            </a:r>
          </a:p>
        </p:txBody>
      </p:sp>
      <p:sp>
        <p:nvSpPr>
          <p:cNvPr name="AutoShape 6" id="6"/>
          <p:cNvSpPr/>
          <p:nvPr/>
        </p:nvSpPr>
        <p:spPr>
          <a:xfrm>
            <a:off x="688874" y="1732338"/>
            <a:ext cx="3005826" cy="1094133"/>
          </a:xfrm>
          <a:prstGeom prst="roundRect">
            <a:avLst>
              <a:gd name="adj" fmla="val 0"/>
            </a:avLst>
          </a:prstGeom>
          <a:blipFill>
            <a:blip r:embed="rId2"/>
            <a:srcRect/>
            <a:stretch>
              <a:fillRect t="-42057" l="0" b="-41091" r="0"/>
            </a:stretch>
          </a:blipFill>
          <a:ln cap="flat">
            <a:prstDash val="solid"/>
          </a:ln>
        </p:spPr>
        <p:txBody>
          <a:bodyPr vert="horz" rot="0" anchor="ctr" wrap="squar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  <p:sp>
        <p:nvSpPr>
          <p:cNvPr name="AutoShape 7" id="7"/>
          <p:cNvSpPr/>
          <p:nvPr/>
        </p:nvSpPr>
        <p:spPr>
          <a:xfrm>
            <a:off x="688874" y="1474454"/>
            <a:ext cx="3005826" cy="173279"/>
          </a:xfrm>
          <a:prstGeom prst="rect">
            <a:avLst/>
          </a:prstGeom>
          <a:gradFill>
            <a:gsLst>
              <a:gs pos="0">
                <a:srgbClr val="D3000E">
                  <a:lumMod val="60000"/>
                  <a:lumOff val="40000"/>
                </a:srgbClr>
              </a:gs>
              <a:gs pos="50000">
                <a:srgbClr val="D3000E"/>
              </a:gs>
            </a:gsLst>
            <a:lin ang="2700000"/>
          </a:gradFill>
          <a:ln cap="flat" cmpd="sng">
            <a:prstDash val="solid"/>
          </a:ln>
        </p:spPr>
        <p:txBody>
          <a:bodyPr vert="horz" anchor="ctr" wrap="square" tIns="45720" lIns="91440" bIns="45720" rIns="91440">
            <a:noAutofit/>
          </a:bodyPr>
          <a:p>
            <a:pPr algn="ctr" marL="0">
              <a:lnSpc>
                <a:spcPct val="13000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>
            <a:off x="916429" y="3012813"/>
            <a:ext cx="746332" cy="646331"/>
          </a:xfrm>
          <a:prstGeom prst="rect">
            <a:avLst/>
          </a:prstGeom>
          <a:noFill/>
        </p:spPr>
        <p:txBody>
          <a:bodyPr anchor="t" rtlCol="false" vert="horz" wrap="square" tIns="45720" lIns="108000" bIns="45720" rIns="108000">
            <a:noAutofit/>
          </a:bodyPr>
          <a:lstStyle/>
          <a:p>
            <a:pPr algn="l" marL="0">
              <a:defRPr/>
            </a:pPr>
            <a:r>
              <a:rPr lang="en-US" b="true" i="false" sz="3600" baseline="0" u="none">
                <a:solidFill>
                  <a:schemeClr val="accent1"/>
                </a:solidFill>
                <a:latin typeface="Arial"/>
                <a:ea typeface="Arial"/>
              </a:rPr>
              <a:t>01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>
            <a:off x="4415387" y="2905270"/>
            <a:ext cx="3005826" cy="3228830"/>
          </a:xfrm>
          <a:prstGeom prst="rect">
            <a:avLst/>
          </a:prstGeom>
          <a:solidFill>
            <a:srgbClr val="F0F0F0">
              <a:alpha val="15000"/>
            </a:srgbClr>
          </a:solidFill>
          <a:ln cap="flat" cmpd="sng">
            <a:prstDash val="solid"/>
          </a:ln>
        </p:spPr>
        <p:txBody>
          <a:bodyPr vert="horz" anchor="ctr" wrap="square" tIns="45720" lIns="91440" bIns="45720" rIns="91440">
            <a:noAutofit/>
          </a:bodyPr>
          <a:p>
            <a:pPr algn="ctr" marL="0">
              <a:lnSpc>
                <a:spcPct val="130000"/>
              </a:lnSpc>
            </a:pPr>
          </a:p>
        </p:txBody>
      </p:sp>
      <p:sp>
        <p:nvSpPr>
          <p:cNvPr name="AutoShape 10" id="10"/>
          <p:cNvSpPr/>
          <p:nvPr/>
        </p:nvSpPr>
        <p:spPr>
          <a:xfrm>
            <a:off x="4642942" y="3706940"/>
            <a:ext cx="2493865" cy="338554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45720" lIns="91440" bIns="45720" rIns="91440">
            <a:spAutoFit/>
          </a:bodyPr>
          <a:p>
            <a:pPr algn="l" marL="0"/>
            <a:r>
              <a:rPr lang="zh-CN" b="true" i="false" sz="1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性能优化的重要性</a:t>
            </a:r>
          </a:p>
        </p:txBody>
      </p:sp>
      <p:sp>
        <p:nvSpPr>
          <p:cNvPr name="AutoShape 11" id="11"/>
          <p:cNvSpPr/>
          <p:nvPr/>
        </p:nvSpPr>
        <p:spPr>
          <a:xfrm>
            <a:off x="4642942" y="4372016"/>
            <a:ext cx="2492024" cy="1185324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30000"/>
              </a:lnSpc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+mn-ea"/>
                <a:ea typeface="+mn-ea"/>
              </a:rPr>
              <a:t>合理的线程数选择和任务分解策略可以进一步提升性能。</a:t>
            </a:r>
          </a:p>
        </p:txBody>
      </p:sp>
      <p:sp>
        <p:nvSpPr>
          <p:cNvPr name="AutoShape 12" id="12"/>
          <p:cNvSpPr/>
          <p:nvPr/>
        </p:nvSpPr>
        <p:spPr>
          <a:xfrm>
            <a:off x="4415387" y="1732339"/>
            <a:ext cx="3005826" cy="1094133"/>
          </a:xfrm>
          <a:prstGeom prst="roundRect">
            <a:avLst>
              <a:gd name="adj" fmla="val 0"/>
            </a:avLst>
          </a:prstGeom>
          <a:blipFill>
            <a:blip r:embed="rId3"/>
            <a:srcRect/>
            <a:stretch>
              <a:fillRect t="-157780" l="0" b="-154160" r="0"/>
            </a:stretch>
          </a:blipFill>
          <a:ln cap="flat">
            <a:prstDash val="solid"/>
          </a:ln>
        </p:spPr>
        <p:txBody>
          <a:bodyPr vert="horz" rot="0" anchor="ctr" wrap="squar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  <p:sp>
        <p:nvSpPr>
          <p:cNvPr name="AutoShape 13" id="13"/>
          <p:cNvSpPr/>
          <p:nvPr/>
        </p:nvSpPr>
        <p:spPr>
          <a:xfrm>
            <a:off x="4415387" y="1474454"/>
            <a:ext cx="3005826" cy="173279"/>
          </a:xfrm>
          <a:prstGeom prst="rect">
            <a:avLst/>
          </a:prstGeom>
          <a:gradFill>
            <a:gsLst>
              <a:gs pos="0">
                <a:srgbClr val="FF424D">
                  <a:lumMod val="60000"/>
                  <a:lumOff val="40000"/>
                </a:srgbClr>
              </a:gs>
              <a:gs pos="50000">
                <a:srgbClr val="FF424D"/>
              </a:gs>
            </a:gsLst>
            <a:lin ang="2700000"/>
          </a:gradFill>
          <a:ln cap="flat" cmpd="sng">
            <a:prstDash val="solid"/>
          </a:ln>
        </p:spPr>
        <p:txBody>
          <a:bodyPr vert="horz" anchor="ctr" wrap="square" tIns="45720" lIns="91440" bIns="45720" rIns="91440">
            <a:noAutofit/>
          </a:bodyPr>
          <a:p>
            <a:pPr algn="ctr" marL="0">
              <a:lnSpc>
                <a:spcPct val="130000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>
            <a:off x="4642942" y="3012813"/>
            <a:ext cx="746332" cy="646331"/>
          </a:xfrm>
          <a:prstGeom prst="rect">
            <a:avLst/>
          </a:prstGeom>
          <a:noFill/>
        </p:spPr>
        <p:txBody>
          <a:bodyPr anchor="t" rtlCol="false" vert="horz" wrap="square" tIns="45720" lIns="108000" bIns="45720" rIns="108000">
            <a:noAutofit/>
          </a:bodyPr>
          <a:lstStyle/>
          <a:p>
            <a:pPr algn="l" marL="0">
              <a:defRPr/>
            </a:pPr>
            <a:r>
              <a:rPr lang="en-US" b="true" i="false" sz="3600" baseline="0" u="none">
                <a:solidFill>
                  <a:schemeClr val="accent2"/>
                </a:solidFill>
                <a:latin typeface="Arial"/>
                <a:ea typeface="Arial"/>
              </a:rPr>
              <a:t>02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>
            <a:off x="8141900" y="2905270"/>
            <a:ext cx="3005826" cy="3228830"/>
          </a:xfrm>
          <a:prstGeom prst="rect">
            <a:avLst/>
          </a:prstGeom>
          <a:solidFill>
            <a:srgbClr val="F0F0F0">
              <a:alpha val="15000"/>
            </a:srgbClr>
          </a:solidFill>
          <a:ln cap="flat" cmpd="sng">
            <a:prstDash val="solid"/>
          </a:ln>
        </p:spPr>
        <p:txBody>
          <a:bodyPr vert="horz" anchor="ctr" wrap="square" tIns="45720" lIns="91440" bIns="45720" rIns="91440">
            <a:noAutofit/>
          </a:bodyPr>
          <a:p>
            <a:pPr algn="ctr" marL="0">
              <a:lnSpc>
                <a:spcPct val="130000"/>
              </a:lnSpc>
            </a:pPr>
          </a:p>
        </p:txBody>
      </p:sp>
      <p:sp>
        <p:nvSpPr>
          <p:cNvPr name="AutoShape 16" id="16"/>
          <p:cNvSpPr/>
          <p:nvPr/>
        </p:nvSpPr>
        <p:spPr>
          <a:xfrm>
            <a:off x="8369455" y="3706940"/>
            <a:ext cx="2493865" cy="338554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45720" lIns="91440" bIns="45720" rIns="91440">
            <a:spAutoFit/>
          </a:bodyPr>
          <a:p>
            <a:pPr algn="l" marL="0"/>
            <a:r>
              <a:rPr lang="zh-CN" b="true" i="false" sz="1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实际应用价值</a:t>
            </a:r>
          </a:p>
        </p:txBody>
      </p:sp>
      <p:sp>
        <p:nvSpPr>
          <p:cNvPr name="AutoShape 17" id="17"/>
          <p:cNvSpPr/>
          <p:nvPr/>
        </p:nvSpPr>
        <p:spPr>
          <a:xfrm>
            <a:off x="8369455" y="4372016"/>
            <a:ext cx="2492024" cy="1185324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30000"/>
              </a:lnSpc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+mn-ea"/>
                <a:ea typeface="+mn-ea"/>
              </a:rPr>
              <a:t>并行求和技术可以应用于各种需要大数据计算的场景。</a:t>
            </a:r>
          </a:p>
        </p:txBody>
      </p:sp>
      <p:sp>
        <p:nvSpPr>
          <p:cNvPr name="AutoShape 18" id="18"/>
          <p:cNvSpPr/>
          <p:nvPr/>
        </p:nvSpPr>
        <p:spPr>
          <a:xfrm>
            <a:off x="8141900" y="1732339"/>
            <a:ext cx="3005826" cy="1094133"/>
          </a:xfrm>
          <a:prstGeom prst="roundRect">
            <a:avLst>
              <a:gd name="adj" fmla="val 0"/>
            </a:avLst>
          </a:prstGeom>
          <a:blipFill>
            <a:blip r:embed="rId4"/>
            <a:srcRect/>
            <a:stretch>
              <a:fillRect t="-42057" l="0" b="-41091" r="0"/>
            </a:stretch>
          </a:blipFill>
          <a:ln cap="flat">
            <a:prstDash val="solid"/>
          </a:ln>
        </p:spPr>
        <p:txBody>
          <a:bodyPr vert="horz" rot="0" anchor="ctr" wrap="squar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  <p:sp>
        <p:nvSpPr>
          <p:cNvPr name="AutoShape 19" id="19"/>
          <p:cNvSpPr/>
          <p:nvPr/>
        </p:nvSpPr>
        <p:spPr>
          <a:xfrm>
            <a:off x="8141900" y="1474454"/>
            <a:ext cx="3005826" cy="173279"/>
          </a:xfrm>
          <a:prstGeom prst="rect">
            <a:avLst/>
          </a:prstGeom>
          <a:gradFill>
            <a:gsLst>
              <a:gs pos="0">
                <a:srgbClr val="D3000E">
                  <a:lumMod val="60000"/>
                  <a:lumOff val="40000"/>
                </a:srgbClr>
              </a:gs>
              <a:gs pos="50000">
                <a:srgbClr val="D3000E"/>
              </a:gs>
            </a:gsLst>
            <a:lin ang="2700000"/>
          </a:gradFill>
          <a:ln cap="flat" cmpd="sng">
            <a:prstDash val="solid"/>
          </a:ln>
        </p:spPr>
        <p:txBody>
          <a:bodyPr vert="horz" anchor="ctr" wrap="square" tIns="45720" lIns="91440" bIns="45720" rIns="91440">
            <a:noAutofit/>
          </a:bodyPr>
          <a:p>
            <a:pPr algn="ctr" marL="0">
              <a:lnSpc>
                <a:spcPct val="130000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>
            <a:off x="8369455" y="3012813"/>
            <a:ext cx="746332" cy="646331"/>
          </a:xfrm>
          <a:prstGeom prst="rect">
            <a:avLst/>
          </a:prstGeom>
          <a:noFill/>
        </p:spPr>
        <p:txBody>
          <a:bodyPr anchor="t" rtlCol="false" vert="horz" wrap="square" tIns="45720" lIns="108000" bIns="45720" rIns="108000">
            <a:noAutofit/>
          </a:bodyPr>
          <a:lstStyle/>
          <a:p>
            <a:pPr algn="l" marL="0">
              <a:defRPr/>
            </a:pPr>
            <a:r>
              <a:rPr lang="en-US" b="true" i="false" sz="3600" baseline="0" u="none">
                <a:solidFill>
                  <a:schemeClr val="accent3"/>
                </a:solidFill>
                <a:latin typeface="Arial"/>
                <a:ea typeface="Arial"/>
              </a:rPr>
              <a:t>03</a:t>
            </a:r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>
      <p:bgPr>
        <a:solidFill>
          <a:srgbClr val="2F2F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47957" y="1795036"/>
            <a:ext cx="2362198" cy="984903"/>
          </a:xfrm>
          <a:prstGeom prst="rect">
            <a:avLst/>
          </a:prstGeom>
          <a:solidFill>
            <a:schemeClr val="accent1"/>
          </a:solidFill>
          <a:ln cap="flat" cmpd="sng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fontAlgn="auto" algn="l" marR="0"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</a:p>
        </p:txBody>
      </p:sp>
      <p:sp>
        <p:nvSpPr>
          <p:cNvPr name="TextBox 3" id="3"/>
          <p:cNvSpPr txBox="true"/>
          <p:nvPr/>
        </p:nvSpPr>
        <p:spPr>
          <a:xfrm>
            <a:off x="1723149" y="1890997"/>
            <a:ext cx="1011816" cy="707886"/>
          </a:xfrm>
          <a:prstGeom prst="rect">
            <a:avLst/>
          </a:prstGeom>
          <a:noFill/>
        </p:spPr>
        <p:txBody>
          <a:bodyPr anchor="t" rtlCol="false" vert="horz" wrap="none" tIns="45720" lIns="91440" bIns="45720" rIns="91440">
            <a:spAutoFit/>
          </a:bodyPr>
          <a:lstStyle/>
          <a:p>
            <a:pPr algn="ctr" marL="0">
              <a:defRPr/>
            </a:pPr>
            <a:r>
              <a:rPr lang="en-US" b="true" i="false" sz="4000" baseline="0" u="none">
                <a:solidFill>
                  <a:srgbClr val="FFFFFF"/>
                </a:solidFill>
                <a:latin typeface="Arial"/>
                <a:ea typeface="Arial"/>
              </a:rPr>
              <a:t>O1.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>
            <a:off x="3698285" y="1528500"/>
            <a:ext cx="0" cy="1634209"/>
          </a:xfrm>
          <a:prstGeom prst="line">
            <a:avLst/>
          </a:prstGeom>
          <a:ln w="6350" cap="flat" cmpd="sng">
            <a:solidFill>
              <a:srgbClr val="FFFFFF">
                <a:alpha val="40000"/>
                <a:lumMod val="50000"/>
                <a:lumOff val="50000"/>
              </a:srgbClr>
            </a:solidFill>
            <a:prstDash val="solid"/>
          </a:ln>
        </p:spPr>
      </p:cxnSp>
      <p:sp>
        <p:nvSpPr>
          <p:cNvPr name="AutoShape 5" id="5"/>
          <p:cNvSpPr/>
          <p:nvPr/>
        </p:nvSpPr>
        <p:spPr>
          <a:xfrm>
            <a:off x="4914901" y="1795036"/>
            <a:ext cx="2362198" cy="984903"/>
          </a:xfrm>
          <a:prstGeom prst="rect">
            <a:avLst/>
          </a:prstGeom>
          <a:solidFill>
            <a:schemeClr val="accent1"/>
          </a:solidFill>
          <a:ln cap="flat" cmpd="sng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fontAlgn="auto" algn="l" marR="0"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</a:p>
        </p:txBody>
      </p:sp>
      <p:cxnSp>
        <p:nvCxnSpPr>
          <p:cNvPr name="Connector 6" id="6"/>
          <p:cNvCxnSpPr/>
          <p:nvPr/>
        </p:nvCxnSpPr>
        <p:spPr>
          <a:xfrm>
            <a:off x="7565229" y="1528500"/>
            <a:ext cx="0" cy="1634209"/>
          </a:xfrm>
          <a:prstGeom prst="line">
            <a:avLst/>
          </a:prstGeom>
          <a:ln w="6350" cap="flat" cmpd="sng">
            <a:solidFill>
              <a:srgbClr val="FFFFFF">
                <a:alpha val="40000"/>
                <a:lumMod val="50000"/>
                <a:lumOff val="50000"/>
              </a:srgbClr>
            </a:solidFill>
            <a:prstDash val="solid"/>
          </a:ln>
        </p:spPr>
      </p:cxnSp>
      <p:sp>
        <p:nvSpPr>
          <p:cNvPr name="TextBox 7" id="7"/>
          <p:cNvSpPr txBox="true"/>
          <p:nvPr/>
        </p:nvSpPr>
        <p:spPr>
          <a:xfrm>
            <a:off x="5663649" y="1918777"/>
            <a:ext cx="1011816" cy="707886"/>
          </a:xfrm>
          <a:prstGeom prst="rect">
            <a:avLst/>
          </a:prstGeom>
          <a:noFill/>
        </p:spPr>
        <p:txBody>
          <a:bodyPr anchor="t" rtlCol="false" vert="horz" wrap="none" tIns="45720" lIns="91440" bIns="45720" rIns="91440">
            <a:spAutoFit/>
          </a:bodyPr>
          <a:lstStyle/>
          <a:p>
            <a:pPr algn="ctr" marL="0">
              <a:defRPr/>
            </a:pPr>
            <a:r>
              <a:rPr lang="en-US" b="true" i="false" sz="4000" baseline="0" u="none">
                <a:solidFill>
                  <a:srgbClr val="FFFFFF"/>
                </a:solidFill>
                <a:latin typeface="Arial"/>
                <a:ea typeface="Arial"/>
              </a:rPr>
              <a:t>O2.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>
            <a:off x="8385688" y="1795036"/>
            <a:ext cx="2362198" cy="984903"/>
          </a:xfrm>
          <a:prstGeom prst="rect">
            <a:avLst/>
          </a:prstGeom>
          <a:solidFill>
            <a:schemeClr val="accent1"/>
          </a:solidFill>
          <a:ln cap="flat" cmpd="sng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fontAlgn="auto" algn="l" marR="0"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</a:p>
        </p:txBody>
      </p:sp>
      <p:sp>
        <p:nvSpPr>
          <p:cNvPr name="TextBox 9" id="9"/>
          <p:cNvSpPr txBox="true"/>
          <p:nvPr/>
        </p:nvSpPr>
        <p:spPr>
          <a:xfrm>
            <a:off x="9134436" y="1918777"/>
            <a:ext cx="1011816" cy="707886"/>
          </a:xfrm>
          <a:prstGeom prst="rect">
            <a:avLst/>
          </a:prstGeom>
          <a:noFill/>
        </p:spPr>
        <p:txBody>
          <a:bodyPr anchor="t" rtlCol="false" vert="horz" wrap="none" tIns="45720" lIns="91440" bIns="45720" rIns="91440">
            <a:spAutoFit/>
          </a:bodyPr>
          <a:lstStyle/>
          <a:p>
            <a:pPr algn="ctr" marL="0">
              <a:defRPr/>
            </a:pPr>
            <a:r>
              <a:rPr lang="en-US" b="true" i="false" sz="4000" baseline="0" u="none">
                <a:solidFill>
                  <a:srgbClr val="FFFFFF"/>
                </a:solidFill>
                <a:latin typeface="Arial"/>
                <a:ea typeface="Arial"/>
              </a:rPr>
              <a:t>O3.</a:t>
            </a:r>
            <a:endParaRPr lang="en-US" sz="1100"/>
          </a:p>
        </p:txBody>
      </p:sp>
      <p:sp>
        <p:nvSpPr>
          <p:cNvPr name="TextBox 10" id="10"/>
          <p:cNvSpPr txBox="true"/>
          <p:nvPr/>
        </p:nvSpPr>
        <p:spPr>
          <a:xfrm>
            <a:off x="1054583" y="3927950"/>
            <a:ext cx="2643701" cy="903389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30000"/>
              </a:lnSpc>
              <a:defRPr/>
            </a:pPr>
            <a:r>
              <a:rPr lang="en-US" b="false" i="false" sz="1400" baseline="0" u="none">
                <a:solidFill>
                  <a:srgbClr val="FFFFFF"/>
                </a:solidFill>
                <a:latin typeface="+mn-ea"/>
                <a:ea typeface="+mn-ea"/>
              </a:rPr>
              <a:t>#####</a:t>
            </a:r>
            <a:endParaRPr lang="en-US" sz="1100"/>
          </a:p>
        </p:txBody>
      </p:sp>
      <p:sp>
        <p:nvSpPr>
          <p:cNvPr name="TextBox 11" id="11"/>
          <p:cNvSpPr txBox="true"/>
          <p:nvPr/>
        </p:nvSpPr>
        <p:spPr>
          <a:xfrm>
            <a:off x="1054583" y="3162709"/>
            <a:ext cx="2643701" cy="340735"/>
          </a:xfrm>
          <a:prstGeom prst="rect">
            <a:avLst/>
          </a:prstGeom>
          <a:noFill/>
        </p:spPr>
        <p:txBody>
          <a:bodyPr anchor="t" rtlCol="false" vert="horz" wrap="square" tIns="46800" lIns="90000" bIns="46800" rIns="90000">
            <a:spAutoFit/>
          </a:bodyPr>
          <a:lstStyle/>
          <a:p>
            <a:pPr algn="l" marL="0">
              <a:defRPr/>
            </a:pPr>
            <a:r>
              <a:rPr lang="en-US" b="true" i="false" sz="1600" baseline="0" u="none">
                <a:solidFill>
                  <a:srgbClr val="FFFFFF"/>
                </a:solidFill>
                <a:latin typeface="+mn-ea"/>
                <a:ea typeface="+mn-ea"/>
              </a:rPr>
              <a:t> </a:t>
            </a:r>
            <a:endParaRPr lang="en-US" sz="1100"/>
          </a:p>
        </p:txBody>
      </p:sp>
      <p:sp>
        <p:nvSpPr>
          <p:cNvPr name="TextBox 12" id="12"/>
          <p:cNvSpPr txBox="true"/>
          <p:nvPr/>
        </p:nvSpPr>
        <p:spPr>
          <a:xfrm>
            <a:off x="4901452" y="3927950"/>
            <a:ext cx="2643701" cy="903389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30000"/>
              </a:lnSpc>
              <a:defRPr/>
            </a:pPr>
            <a:r>
              <a:rPr lang="en-US" b="false" i="false" sz="1400" baseline="0" u="none">
                <a:solidFill>
                  <a:srgbClr val="FFFFFF"/>
                </a:solidFill>
                <a:latin typeface="+mn-ea"/>
                <a:ea typeface="+mn-ea"/>
              </a:rPr>
              <a:t>#####</a:t>
            </a:r>
            <a:endParaRPr lang="en-US" sz="1100"/>
          </a:p>
        </p:txBody>
      </p:sp>
      <p:sp>
        <p:nvSpPr>
          <p:cNvPr name="TextBox 13" id="13"/>
          <p:cNvSpPr txBox="true"/>
          <p:nvPr/>
        </p:nvSpPr>
        <p:spPr>
          <a:xfrm>
            <a:off x="4901452" y="3162709"/>
            <a:ext cx="2643701" cy="340735"/>
          </a:xfrm>
          <a:prstGeom prst="rect">
            <a:avLst/>
          </a:prstGeom>
          <a:noFill/>
        </p:spPr>
        <p:txBody>
          <a:bodyPr anchor="t" rtlCol="false" vert="horz" wrap="square" tIns="46800" lIns="90000" bIns="46800" rIns="90000">
            <a:spAutoFit/>
          </a:bodyPr>
          <a:lstStyle/>
          <a:p>
            <a:pPr algn="l" marL="0">
              <a:defRPr/>
            </a:pPr>
            <a:r>
              <a:rPr lang="en-US" b="true" i="false" sz="1600" baseline="0" u="none">
                <a:solidFill>
                  <a:srgbClr val="FFFFFF"/>
                </a:solidFill>
                <a:latin typeface="+mn-ea"/>
                <a:ea typeface="+mn-ea"/>
              </a:rPr>
              <a:t> </a:t>
            </a:r>
            <a:endParaRPr lang="en-US" sz="1100"/>
          </a:p>
        </p:txBody>
      </p:sp>
      <p:sp>
        <p:nvSpPr>
          <p:cNvPr name="TextBox 14" id="14"/>
          <p:cNvSpPr txBox="true"/>
          <p:nvPr/>
        </p:nvSpPr>
        <p:spPr>
          <a:xfrm>
            <a:off x="8385688" y="3927950"/>
            <a:ext cx="2643701" cy="903389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30000"/>
              </a:lnSpc>
              <a:defRPr/>
            </a:pPr>
            <a:r>
              <a:rPr lang="en-US" b="false" i="false" sz="1400" baseline="0" u="none">
                <a:solidFill>
                  <a:srgbClr val="FFFFFF"/>
                </a:solidFill>
                <a:latin typeface="+mn-ea"/>
                <a:ea typeface="+mn-ea"/>
              </a:rPr>
              <a:t>#####</a:t>
            </a:r>
            <a:endParaRPr lang="en-US" sz="1100"/>
          </a:p>
        </p:txBody>
      </p:sp>
      <p:sp>
        <p:nvSpPr>
          <p:cNvPr name="TextBox 15" id="15"/>
          <p:cNvSpPr txBox="true"/>
          <p:nvPr/>
        </p:nvSpPr>
        <p:spPr>
          <a:xfrm>
            <a:off x="8385688" y="3162709"/>
            <a:ext cx="2643701" cy="340735"/>
          </a:xfrm>
          <a:prstGeom prst="rect">
            <a:avLst/>
          </a:prstGeom>
          <a:noFill/>
        </p:spPr>
        <p:txBody>
          <a:bodyPr anchor="t" rtlCol="false" vert="horz" wrap="square" tIns="46800" lIns="90000" bIns="46800" rIns="90000">
            <a:spAutoFit/>
          </a:bodyPr>
          <a:lstStyle/>
          <a:p>
            <a:pPr algn="l" marL="0">
              <a:defRPr/>
            </a:pPr>
            <a:r>
              <a:rPr lang="en-US" b="true" i="false" sz="1600" baseline="0" u="none">
                <a:solidFill>
                  <a:srgbClr val="FFFFFF"/>
                </a:solidFill>
                <a:latin typeface="+mn-ea"/>
                <a:ea typeface="+mn-ea"/>
              </a:rPr>
              <a:t> 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>
            <a:off x="688874" y="10239"/>
            <a:ext cx="10858500" cy="1028700"/>
          </a:xfrm>
          <a:prstGeom prst="rect">
            <a:avLst/>
          </a:prstGeom>
        </p:spPr>
        <p:txBody>
          <a:bodyPr vert="horz" anchor="b" tIns="45720" lIns="91440" bIns="45720" rIns="91440">
            <a:normAutofit/>
          </a:bodyPr>
          <a:p>
            <a:pPr algn="l" marL="0">
              <a:lnSpc>
                <a:spcPct val="90000"/>
              </a:lnSpc>
              <a:spcBef>
                <a:spcPct val="0"/>
              </a:spcBef>
            </a:pPr>
            <a:r>
              <a:rPr lang="zh-CN" b="true" i="false" sz="3200" baseline="0" u="none" altLang="en-US">
                <a:solidFill>
                  <a:srgbClr val="FFFFFF"/>
                </a:solidFill>
                <a:latin typeface="+mn-ea"/>
                <a:ea typeface="+mn-ea"/>
              </a:rPr>
              <a:t>展望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bg>
      <p:bgPr>
        <a:solidFill>
          <a:srgbClr val="2F2F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body" sz="quarter" idx="13"/>
          </p:nvPr>
        </p:nvSpPr>
        <p:spPr>
          <a:xfrm>
            <a:off x="1377950" y="2607469"/>
            <a:ext cx="9436100" cy="1643062"/>
          </a:xfrm>
        </p:spPr>
        <p:txBody>
          <a:bodyPr vert="horz" anchor="b" tIns="45720" lIns="91440" bIns="45720" rIns="91440">
            <a:normAutofit/>
          </a:bodyPr>
          <a:p>
            <a:pPr algn="ctr" indent="0" marL="0">
              <a:lnSpc>
                <a:spcPct val="90000"/>
              </a:lnSpc>
              <a:spcBef>
                <a:spcPts val="1000"/>
              </a:spcBef>
            </a:pPr>
            <a:r>
              <a:rPr lang="en-US" b="true" i="false" sz="10700" baseline="0" u="none">
                <a:solidFill>
                  <a:srgbClr val="FFFFFF"/>
                </a:solidFill>
                <a:latin typeface="+mn-ea"/>
                <a:ea typeface="+mn-ea"/>
              </a:rPr>
              <a:t>Thanks</a:t>
            </a:r>
          </a:p>
        </p:txBody>
      </p:sp>
      <p:sp>
        <p:nvSpPr>
          <p:cNvPr name="Freeform 3" id="3"/>
          <p:cNvSpPr/>
          <p:nvPr/>
        </p:nvSpPr>
        <p:spPr>
          <a:xfrm flipH="true" rot="10800000">
            <a:off x="3390901" y="-12700"/>
            <a:ext cx="8801099" cy="6858000"/>
          </a:xfrm>
          <a:custGeom>
            <a:avLst/>
            <a:gdLst/>
            <a:ahLst/>
            <a:cxnLst/>
            <a:rect r="r" b="b" t="t" l="l"/>
            <a:pathLst>
              <a:path w="8801099" h="6858000" stroke="true" fill="norm" extrusionOk="true">
                <a:moveTo>
                  <a:pt x="5337382" y="6460991"/>
                </a:moveTo>
                <a:cubicBezTo>
                  <a:pt x="3789317" y="6463504"/>
                  <a:pt x="2494729" y="5251085"/>
                  <a:pt x="2412935" y="3687662"/>
                </a:cubicBezTo>
                <a:cubicBezTo>
                  <a:pt x="2328504" y="2073808"/>
                  <a:pt x="3568343" y="697075"/>
                  <a:pt x="5182198" y="612643"/>
                </a:cubicBezTo>
                <a:cubicBezTo>
                  <a:pt x="5283065" y="607365"/>
                  <a:pt x="5383003" y="607262"/>
                  <a:pt x="5481759" y="612098"/>
                </a:cubicBezTo>
                <a:cubicBezTo>
                  <a:pt x="6963095" y="684652"/>
                  <a:pt x="8178063" y="1868917"/>
                  <a:pt x="8257219" y="3381906"/>
                </a:cubicBezTo>
                <a:cubicBezTo>
                  <a:pt x="8341651" y="4995761"/>
                  <a:pt x="7101811" y="6372493"/>
                  <a:pt x="5487954" y="6456926"/>
                </a:cubicBezTo>
                <a:cubicBezTo>
                  <a:pt x="5437521" y="6459565"/>
                  <a:pt x="5387320" y="6460910"/>
                  <a:pt x="5337382" y="6460991"/>
                </a:cubicBezTo>
                <a:close/>
                <a:moveTo>
                  <a:pt x="1162458" y="6858000"/>
                </a:moveTo>
                <a:lnTo>
                  <a:pt x="8801099" y="6858000"/>
                </a:lnTo>
                <a:lnTo>
                  <a:pt x="8801099" y="0"/>
                </a:lnTo>
                <a:lnTo>
                  <a:pt x="1342078" y="0"/>
                </a:lnTo>
                <a:lnTo>
                  <a:pt x="1204037" y="158907"/>
                </a:lnTo>
                <a:cubicBezTo>
                  <a:pt x="393615" y="1150020"/>
                  <a:pt x="-64739" y="2434272"/>
                  <a:pt x="7418" y="3813514"/>
                </a:cubicBezTo>
                <a:cubicBezTo>
                  <a:pt x="66949" y="4951388"/>
                  <a:pt x="478843" y="5987284"/>
                  <a:pt x="1131836" y="6821002"/>
                </a:cubicBezTo>
                <a:close/>
              </a:path>
            </a:pathLst>
          </a:custGeom>
          <a:ln w="12700" cap="flat" cmpd="sng">
            <a:gradFill>
              <a:gsLst>
                <a:gs pos="0">
                  <a:srgbClr val="FFFFFF"/>
                </a:gs>
                <a:gs pos="36300">
                  <a:srgbClr val="FFFFFF">
                    <a:alpha val="0"/>
                  </a:srgbClr>
                </a:gs>
                <a:gs pos="60000">
                  <a:srgbClr val="FFFFFF">
                    <a:alpha val="0"/>
                  </a:srgbClr>
                </a:gs>
                <a:gs pos="100000">
                  <a:srgbClr val="FFFFFF"/>
                </a:gs>
              </a:gsLst>
              <a:lin ang="6000000"/>
            </a:gradFill>
            <a:prstDash val="solid"/>
          </a:ln>
        </p:spPr>
        <p:txBody>
          <a:bodyPr vert="horz" anchor="ctr" wrap="square" tIns="45720" lIns="91440" bIns="45720" rIns="91440">
            <a:noAutofit/>
          </a:bodyPr>
          <a:p>
            <a:pPr algn="ctr" marL="0"/>
          </a:p>
        </p:txBody>
      </p:sp>
      <p:sp>
        <p:nvSpPr>
          <p:cNvPr name="AutoShape 4" id="4"/>
          <p:cNvSpPr/>
          <p:nvPr/>
        </p:nvSpPr>
        <p:spPr>
          <a:xfrm>
            <a:off x="4951511" y="4250531"/>
            <a:ext cx="2676726" cy="508401"/>
          </a:xfrm>
          <a:prstGeom prst="rect">
            <a:avLst/>
          </a:prstGeom>
          <a:solidFill>
            <a:srgbClr val="C00000"/>
          </a:solidFill>
          <a:ln cap="flat" cmpd="sng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  <a:r>
              <a:rPr lang="zh-CN" b="false" i="false" sz="1400" baseline="0" u="none" altLang="en-US">
                <a:solidFill>
                  <a:schemeClr val="lt1"/>
                </a:solidFill>
                <a:latin typeface="微软雅黑"/>
                <a:ea typeface="微软雅黑"/>
              </a:rPr>
              <a:t>汇报人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2F2F2F"/>
      </a:dk1>
      <a:lt1>
        <a:srgbClr val="FFFFFF"/>
      </a:lt1>
      <a:dk2>
        <a:srgbClr val="778495"/>
      </a:dk2>
      <a:lt2>
        <a:srgbClr val="F0F0F0"/>
      </a:lt2>
      <a:accent1>
        <a:srgbClr val="D3000E"/>
      </a:accent1>
      <a:accent2>
        <a:srgbClr val="FF424D"/>
      </a:accent2>
      <a:accent3>
        <a:srgbClr val="D3000E"/>
      </a:accent3>
      <a:accent4>
        <a:srgbClr val="B878FF"/>
      </a:accent4>
      <a:accent5>
        <a:srgbClr val="D63F51"/>
      </a:accent5>
      <a:accent6>
        <a:srgbClr val="FF4545"/>
      </a:accent6>
      <a:hlink>
        <a:srgbClr val="FFFFFF"/>
      </a:hlink>
      <a:folHlink>
        <a:srgbClr val="97979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全屏显示(4:3)</PresentationFormat>
  <Paragraphs>0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2" baseType="lpstr">
      <vt:lpstr>Arial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2025-12-11T11:42:56Z</dcterms:created>
  <cp:lastModifiedBy>user</cp:lastModifiedBy>
  <dcterms:modified xsi:type="dcterms:W3CDTF">2025-12-11T11:42:56Z</dcterms:modified>
  <cp:revision>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pid="2" fmtid="{D5CDD505-2E9C-101B-9397-08002B2CF9AE}" name="copyright">
    <vt:lpwstr>https://docmee.cn</vt:lpwstr>
  </property>
  <property pid="3" fmtid="{D5CDD505-2E9C-101B-9397-08002B2CF9AE}" name="developer">
    <vt:lpwstr>https://github.com/veasion</vt:lpwstr>
  </property>
  <property pid="4" fmtid="{D5CDD505-2E9C-101B-9397-08002B2CF9AE}" name="AIGC">
    <vt:lpwstr>{"ContentPropagator":"文多多","Label":"1","ReservedCode1":"1765453376147","ProduceID":"wenduoduo-pptx-1765453376147","ReservedCode2":"1765453376147","PropagateID":"wenduoduo-pptx1765453376147","ContentProducer":"文多多"}</vt:lpwstr>
  </property>
</Properties>
</file>